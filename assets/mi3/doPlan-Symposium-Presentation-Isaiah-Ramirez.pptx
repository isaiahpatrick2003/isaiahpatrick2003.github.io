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1675"/>
  <p:notesSz cx="6858000" cy="12191675"/>
  <p:embeddedFontLst>
    <p:embeddedFont>
      <p:font typeface="Play"/>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lay-bold.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Play-regular.fnt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Open by framing the talk as your summer research contribution. Say: This summer I worked with the Mi3 lab on doPlan, a dataset for teaching autonomous driving systems to understand passenger-style driving instructions. My role was annotation, so this talk focuses on what the dataset is, why it matters, and what I learned by helping create labels.</a:t>
            </a:r>
            <a:endParaRPr/>
          </a:p>
        </p:txBody>
      </p:sp>
      <p:sp>
        <p:nvSpPr>
          <p:cNvPr id="18" name="Google Shape;1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Use this slide as the hook. The point is not just commands like turn left. The hard part is combining language with the scene and with planning over time. Mention that the paper motivates doPlan around passenger intent and long-horizon interaction.</a:t>
            </a:r>
            <a:endParaRPr/>
          </a:p>
        </p:txBody>
      </p:sp>
      <p:sp>
        <p:nvSpPr>
          <p:cNvPr id="34" name="Google Shape;3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 name="Google Shape;6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Explain this quickly. The main point is that many autonomous driving datasets are very useful, but they are not primarily about natural language instruction following. doPlan is complementary: it builds on nuPlan and adds language annotations.</a:t>
            </a:r>
            <a:endParaRPr/>
          </a:p>
        </p:txBody>
      </p:sp>
      <p:sp>
        <p:nvSpPr>
          <p:cNvPr id="107" name="Google Shape;10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plain English description. A dataset is not just a folder of videos. doPlan is the process of taking driving clips, having people write instructions, and creating data that can train and evaluate future models.</a:t>
            </a:r>
            <a:endParaRPr/>
          </a:p>
        </p:txBody>
      </p:sp>
      <p:sp>
        <p:nvSpPr>
          <p:cNvPr id="137" name="Google Shape;13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Show what you actually used. Mention that the interface gives camera views and map context, but it does not give bounding boxes or machine-labeled objects. You had to reason like a human passenger.</a:t>
            </a:r>
            <a:endParaRPr/>
          </a:p>
        </p:txBody>
      </p:sp>
      <p:sp>
        <p:nvSpPr>
          <p:cNvPr id="174" name="Google Shape;17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slide centers your actual contribution. Say that your job was to generate labels that could later be used as training examples. You can say: I had to avoid describing what happened and instead write what I would tell a driver to cause that behavior.</a:t>
            </a:r>
            <a:endParaRPr/>
          </a:p>
        </p:txBody>
      </p:sp>
      <p:sp>
        <p:nvSpPr>
          <p:cNvPr id="199" name="Google Shape;19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Use your own examples. Emphasize that the difference is subtle but important. A description says what the car did. An instruction says what you would tell the driver. This is the central mindset for doPlan annotation.</a:t>
            </a:r>
            <a:endParaRPr/>
          </a:p>
        </p:txBody>
      </p:sp>
      <p:sp>
        <p:nvSpPr>
          <p:cNvPr id="231" name="Google Shape;23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Explain the categories simply. Do not spend too long here. The most useful examples are ones you encountered: Turn left is non-referential, turn left at the light is static, go around the fire truck is dynamic.</a:t>
            </a:r>
            <a:endParaRPr/>
          </a:p>
        </p:txBody>
      </p:sp>
      <p:sp>
        <p:nvSpPr>
          <p:cNvPr id="257" name="Google Shape;25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a good place to show that you learned from the annotation process. Mention the Slack discussion: for very long clips, Marcus suggested generating a high-level instruction if possible, such as go to the park or wherever the final destination is. If the destination is not visible, do not invent it.</a:t>
            </a:r>
            <a:endParaRPr/>
          </a:p>
        </p:txBody>
      </p:sp>
      <p:sp>
        <p:nvSpPr>
          <p:cNvPr id="291" name="Google Shape;29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slide helps the audience understand the labor behind the dataset. You can say the exact current number may change, but around the time of the lab discussion there were about 1,100 labels. The paper’s longer term target is much larger.</a:t>
            </a:r>
            <a:endParaRPr/>
          </a:p>
        </p:txBody>
      </p:sp>
      <p:sp>
        <p:nvSpPr>
          <p:cNvPr id="318" name="Google Shape;31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2" name="Google Shape;34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a reflection slide. Emphasize that your contribution was annotation, but that annotation is not trivial. It taught you about natural language ambiguity, research datasets, and how data collection decisions affect future models.</a:t>
            </a:r>
            <a:endParaRPr/>
          </a:p>
        </p:txBody>
      </p:sp>
      <p:sp>
        <p:nvSpPr>
          <p:cNvPr id="382" name="Google Shape;38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End cleanly. Thank the audience and invite questions. If asked what you personally did, return to the workflow: watched clips, wrote passenger instructions, assigned referential classes, and learned how the dataset is being built.</a:t>
            </a:r>
            <a:endParaRPr/>
          </a:p>
        </p:txBody>
      </p:sp>
      <p:sp>
        <p:nvSpPr>
          <p:cNvPr id="408" name="Google Shape;40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ean">
  <p:cSld name="Clean">
    <p:bg>
      <p:bgPr>
        <a:solidFill>
          <a:srgbClr val="F7F8FA"/>
        </a:solidFill>
      </p:bgPr>
    </p:bg>
    <p:spTree>
      <p:nvGrpSpPr>
        <p:cNvPr id="11" name="Shape 11"/>
        <p:cNvGrpSpPr/>
        <p:nvPr/>
      </p:nvGrpSpPr>
      <p:grpSpPr>
        <a:xfrm>
          <a:off x="0" y="0"/>
          <a:ext cx="0" cy="0"/>
          <a:chOff x="0" y="0"/>
          <a:chExt cx="0" cy="0"/>
        </a:xfrm>
      </p:grpSpPr>
      <p:cxnSp>
        <p:nvCxnSpPr>
          <p:cNvPr id="12" name="Google Shape;12;p2"/>
          <p:cNvCxnSpPr/>
          <p:nvPr/>
        </p:nvCxnSpPr>
        <p:spPr>
          <a:xfrm>
            <a:off x="502920" y="6556248"/>
            <a:ext cx="11201400" cy="0"/>
          </a:xfrm>
          <a:prstGeom prst="straightConnector1">
            <a:avLst/>
          </a:prstGeom>
          <a:noFill/>
          <a:ln cap="flat" cmpd="sng" w="12700">
            <a:solidFill>
              <a:srgbClr val="1F2937">
                <a:alpha val="14902"/>
              </a:srgbClr>
            </a:solidFill>
            <a:prstDash val="solid"/>
            <a:round/>
            <a:headEnd len="sm" w="sm" type="none"/>
            <a:tailEnd len="sm" w="sm" type="none"/>
          </a:ln>
        </p:spPr>
      </p:cxnSp>
      <p:sp>
        <p:nvSpPr>
          <p:cNvPr id="13" name="Google Shape;13;p2"/>
          <p:cNvSpPr txBox="1"/>
          <p:nvPr>
            <p:ph idx="12" type="sldNum"/>
          </p:nvPr>
        </p:nvSpPr>
        <p:spPr>
          <a:xfrm>
            <a:off x="11430000" y="6583680"/>
            <a:ext cx="800000" cy="3000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6B728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6B728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6B728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6B728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6B728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6B728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6B728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6B728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6B728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4" name="Shape 1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430000" y="6583680"/>
            <a:ext cx="800000" cy="3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6B728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6B728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6B728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6B728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6B728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6B728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6B728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6B728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6B728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6.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 name="Shape 19"/>
        <p:cNvGrpSpPr/>
        <p:nvPr/>
      </p:nvGrpSpPr>
      <p:grpSpPr>
        <a:xfrm>
          <a:off x="0" y="0"/>
          <a:ext cx="0" cy="0"/>
          <a:chOff x="0" y="0"/>
          <a:chExt cx="0" cy="0"/>
        </a:xfrm>
      </p:grpSpPr>
      <p:pic>
        <p:nvPicPr>
          <p:cNvPr descr="/mnt/data/doplan_pres_assets/title_bg.png" id="20" name="Google Shape;20;p4"/>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21" name="Google Shape;21;p4"/>
          <p:cNvSpPr/>
          <p:nvPr/>
        </p:nvSpPr>
        <p:spPr>
          <a:xfrm>
            <a:off x="676656" y="521208"/>
            <a:ext cx="173736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6B900"/>
              </a:buClr>
              <a:buSzPts val="2200"/>
              <a:buFont typeface="Arial"/>
              <a:buNone/>
            </a:pPr>
            <a:r>
              <a:rPr b="1" i="0" lang="en-US" sz="2200" u="none" cap="none" strike="noStrike">
                <a:solidFill>
                  <a:srgbClr val="76B900"/>
                </a:solidFill>
                <a:latin typeface="Arial"/>
                <a:ea typeface="Arial"/>
                <a:cs typeface="Arial"/>
                <a:sym typeface="Arial"/>
              </a:rPr>
              <a:t>doPlan</a:t>
            </a:r>
            <a:endParaRPr b="0" i="0" sz="2200" u="none" cap="none" strike="noStrike">
              <a:solidFill>
                <a:schemeClr val="dk1"/>
              </a:solidFill>
              <a:latin typeface="Arial"/>
              <a:ea typeface="Arial"/>
              <a:cs typeface="Arial"/>
              <a:sym typeface="Arial"/>
            </a:endParaRPr>
          </a:p>
        </p:txBody>
      </p:sp>
      <p:cxnSp>
        <p:nvCxnSpPr>
          <p:cNvPr id="22" name="Google Shape;22;p4"/>
          <p:cNvCxnSpPr/>
          <p:nvPr/>
        </p:nvCxnSpPr>
        <p:spPr>
          <a:xfrm>
            <a:off x="676656" y="960120"/>
            <a:ext cx="1097280" cy="0"/>
          </a:xfrm>
          <a:prstGeom prst="straightConnector1">
            <a:avLst/>
          </a:prstGeom>
          <a:noFill/>
          <a:ln cap="flat" cmpd="sng" w="38100">
            <a:solidFill>
              <a:srgbClr val="76B900"/>
            </a:solidFill>
            <a:prstDash val="solid"/>
            <a:round/>
            <a:headEnd len="sm" w="sm" type="none"/>
            <a:tailEnd len="sm" w="sm" type="none"/>
          </a:ln>
        </p:spPr>
      </p:cxnSp>
      <p:sp>
        <p:nvSpPr>
          <p:cNvPr id="23" name="Google Shape;23;p4"/>
          <p:cNvSpPr/>
          <p:nvPr/>
        </p:nvSpPr>
        <p:spPr>
          <a:xfrm>
            <a:off x="676656" y="1901952"/>
            <a:ext cx="6400800" cy="1325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Annotating Long-Horizon</a:t>
            </a:r>
            <a:endParaRPr b="0" i="0" sz="4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Driving Instructions</a:t>
            </a:r>
            <a:endParaRPr b="0" i="0" sz="4400" u="none" cap="none" strike="noStrike">
              <a:solidFill>
                <a:schemeClr val="dk1"/>
              </a:solidFill>
              <a:latin typeface="Arial"/>
              <a:ea typeface="Arial"/>
              <a:cs typeface="Arial"/>
              <a:sym typeface="Arial"/>
            </a:endParaRPr>
          </a:p>
        </p:txBody>
      </p:sp>
      <p:sp>
        <p:nvSpPr>
          <p:cNvPr id="24" name="Google Shape;24;p4"/>
          <p:cNvSpPr/>
          <p:nvPr/>
        </p:nvSpPr>
        <p:spPr>
          <a:xfrm>
            <a:off x="713232" y="3497848"/>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600"/>
              <a:buFont typeface="Arial"/>
              <a:buNone/>
            </a:pPr>
            <a:r>
              <a:rPr b="0" i="0" lang="en-US" sz="1600" u="none" cap="none" strike="noStrike">
                <a:solidFill>
                  <a:srgbClr val="E5E7EB"/>
                </a:solidFill>
                <a:latin typeface="Arial"/>
                <a:ea typeface="Arial"/>
                <a:cs typeface="Arial"/>
                <a:sym typeface="Arial"/>
              </a:rPr>
              <a:t>Summer Research Oral Presentation</a:t>
            </a:r>
            <a:endParaRPr b="0" i="0" sz="1600" u="none" cap="none" strike="noStrike">
              <a:solidFill>
                <a:schemeClr val="dk1"/>
              </a:solidFill>
              <a:latin typeface="Arial"/>
              <a:ea typeface="Arial"/>
              <a:cs typeface="Arial"/>
              <a:sym typeface="Arial"/>
            </a:endParaRPr>
          </a:p>
        </p:txBody>
      </p:sp>
      <p:sp>
        <p:nvSpPr>
          <p:cNvPr id="25" name="Google Shape;25;p4"/>
          <p:cNvSpPr/>
          <p:nvPr/>
        </p:nvSpPr>
        <p:spPr>
          <a:xfrm>
            <a:off x="676657" y="3881627"/>
            <a:ext cx="57606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350"/>
              <a:buFont typeface="Arial"/>
              <a:buNone/>
            </a:pPr>
            <a:r>
              <a:rPr b="0" i="0" lang="en-US" sz="1350" u="none" cap="none" strike="noStrike">
                <a:solidFill>
                  <a:srgbClr val="D1D5DB"/>
                </a:solidFill>
                <a:latin typeface="Arial"/>
                <a:ea typeface="Arial"/>
                <a:cs typeface="Arial"/>
                <a:sym typeface="Arial"/>
              </a:rPr>
              <a:t>Isaiah Ramirez  •  Mi³ Lab  •  Dr. Ross Greer</a:t>
            </a:r>
            <a:endParaRPr b="0" i="0" sz="1350" u="none" cap="none" strike="noStrike">
              <a:solidFill>
                <a:schemeClr val="dk1"/>
              </a:solidFill>
              <a:latin typeface="Arial"/>
              <a:ea typeface="Arial"/>
              <a:cs typeface="Arial"/>
              <a:sym typeface="Arial"/>
            </a:endParaRPr>
          </a:p>
        </p:txBody>
      </p:sp>
      <p:sp>
        <p:nvSpPr>
          <p:cNvPr id="26" name="Google Shape;26;p4"/>
          <p:cNvSpPr/>
          <p:nvPr/>
        </p:nvSpPr>
        <p:spPr>
          <a:xfrm>
            <a:off x="713232" y="4828032"/>
            <a:ext cx="2971800" cy="347472"/>
          </a:xfrm>
          <a:prstGeom prst="roundRect">
            <a:avLst>
              <a:gd fmla="val 39474" name="adj"/>
            </a:avLst>
          </a:prstGeom>
          <a:solidFill>
            <a:srgbClr val="76B900">
              <a:alpha val="92157"/>
            </a:srgbClr>
          </a:solidFill>
          <a:ln cap="flat" cmpd="sng" w="12700">
            <a:solidFill>
              <a:srgbClr val="76B9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4"/>
          <p:cNvSpPr/>
          <p:nvPr/>
        </p:nvSpPr>
        <p:spPr>
          <a:xfrm>
            <a:off x="822960" y="4892040"/>
            <a:ext cx="2752344"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Arial"/>
              <a:buNone/>
            </a:pPr>
            <a:r>
              <a:rPr b="1" i="0" lang="en-US" sz="1050" u="none" cap="none" strike="noStrike">
                <a:solidFill>
                  <a:srgbClr val="FFFFFF"/>
                </a:solidFill>
                <a:latin typeface="Arial"/>
                <a:ea typeface="Arial"/>
                <a:cs typeface="Arial"/>
                <a:sym typeface="Arial"/>
              </a:rPr>
              <a:t>Natural language × autonomous driving</a:t>
            </a:r>
            <a:endParaRPr b="0" i="0" sz="1050" u="none" cap="none" strike="noStrike">
              <a:solidFill>
                <a:schemeClr val="dk1"/>
              </a:solidFill>
              <a:latin typeface="Arial"/>
              <a:ea typeface="Arial"/>
              <a:cs typeface="Arial"/>
              <a:sym typeface="Arial"/>
            </a:endParaRPr>
          </a:p>
        </p:txBody>
      </p:sp>
      <p:sp>
        <p:nvSpPr>
          <p:cNvPr id="28" name="Google Shape;28;p4"/>
          <p:cNvSpPr/>
          <p:nvPr/>
        </p:nvSpPr>
        <p:spPr>
          <a:xfrm>
            <a:off x="3886200" y="4828032"/>
            <a:ext cx="2331720" cy="347472"/>
          </a:xfrm>
          <a:prstGeom prst="roundRect">
            <a:avLst>
              <a:gd fmla="val 39474" name="adj"/>
            </a:avLst>
          </a:prstGeom>
          <a:solidFill>
            <a:srgbClr val="2563EB">
              <a:alpha val="92157"/>
            </a:srgbClr>
          </a:solidFill>
          <a:ln cap="flat" cmpd="sng" w="12700">
            <a:solidFill>
              <a:srgbClr val="2563E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4"/>
          <p:cNvSpPr/>
          <p:nvPr/>
        </p:nvSpPr>
        <p:spPr>
          <a:xfrm>
            <a:off x="3995928" y="4892040"/>
            <a:ext cx="2112264"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Arial"/>
              <a:buNone/>
            </a:pPr>
            <a:r>
              <a:rPr b="1" i="0" lang="en-US" sz="1050" u="none" cap="none" strike="noStrike">
                <a:solidFill>
                  <a:srgbClr val="FFFFFF"/>
                </a:solidFill>
                <a:latin typeface="Arial"/>
                <a:ea typeface="Arial"/>
                <a:cs typeface="Arial"/>
                <a:sym typeface="Arial"/>
              </a:rPr>
              <a:t>Annotation perspective</a:t>
            </a:r>
            <a:endParaRPr b="0" i="0" sz="1050" u="none" cap="none" strike="noStrike">
              <a:solidFill>
                <a:schemeClr val="dk1"/>
              </a:solidFill>
              <a:latin typeface="Arial"/>
              <a:ea typeface="Arial"/>
              <a:cs typeface="Arial"/>
              <a:sym typeface="Arial"/>
            </a:endParaRPr>
          </a:p>
        </p:txBody>
      </p:sp>
      <p:sp>
        <p:nvSpPr>
          <p:cNvPr id="30" name="Google Shape;30;p4"/>
          <p:cNvSpPr txBox="1"/>
          <p:nvPr>
            <p:ph idx="4294967295" type="sldNum"/>
          </p:nvPr>
        </p:nvSpPr>
        <p:spPr>
          <a:xfrm>
            <a:off x="11430000" y="6583680"/>
            <a:ext cx="8000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None/>
            </a:pPr>
            <a:fld id="{00000000-1234-1234-1234-123412341234}" type="slidenum">
              <a:rPr b="0" i="0" lang="en-US" sz="1200" u="none" cap="none" strike="noStrike">
                <a:solidFill>
                  <a:srgbClr val="6B7280"/>
                </a:solidFill>
                <a:latin typeface="Arial"/>
                <a:ea typeface="Arial"/>
                <a:cs typeface="Arial"/>
                <a:sym typeface="Arial"/>
              </a:rPr>
              <a:t>‹#›</a:t>
            </a:fld>
            <a:endParaRPr b="0" i="0" sz="1200" u="none" cap="none" strike="noStrike">
              <a:solidFill>
                <a:srgbClr val="6B728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p5"/>
          <p:cNvSpPr/>
          <p:nvPr/>
        </p:nvSpPr>
        <p:spPr>
          <a:xfrm>
            <a:off x="566928" y="320040"/>
            <a:ext cx="27432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6B900"/>
              </a:buClr>
              <a:buSzPts val="1000"/>
              <a:buFont typeface="Arial"/>
              <a:buNone/>
            </a:pPr>
            <a:r>
              <a:rPr b="1" i="0" lang="en-US" sz="1000" u="none" cap="none" strike="noStrike">
                <a:solidFill>
                  <a:srgbClr val="76B900"/>
                </a:solidFill>
                <a:latin typeface="Arial"/>
                <a:ea typeface="Arial"/>
                <a:cs typeface="Arial"/>
                <a:sym typeface="Arial"/>
              </a:rPr>
              <a:t>MOTIVATION</a:t>
            </a:r>
            <a:endParaRPr b="0" i="0" sz="1000" u="none" cap="none" strike="noStrike">
              <a:solidFill>
                <a:schemeClr val="dk1"/>
              </a:solidFill>
              <a:latin typeface="Arial"/>
              <a:ea typeface="Arial"/>
              <a:cs typeface="Arial"/>
              <a:sym typeface="Arial"/>
            </a:endParaRPr>
          </a:p>
        </p:txBody>
      </p:sp>
      <p:sp>
        <p:nvSpPr>
          <p:cNvPr id="37" name="Google Shape;37;p5"/>
          <p:cNvSpPr/>
          <p:nvPr/>
        </p:nvSpPr>
        <p:spPr>
          <a:xfrm>
            <a:off x="566928" y="594360"/>
            <a:ext cx="77724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3000"/>
              <a:buFont typeface="Arial"/>
              <a:buNone/>
            </a:pPr>
            <a:r>
              <a:rPr b="1" i="0" lang="en-US" sz="3000" u="none" cap="none" strike="noStrike">
                <a:solidFill>
                  <a:srgbClr val="111827"/>
                </a:solidFill>
                <a:latin typeface="Arial"/>
                <a:ea typeface="Arial"/>
                <a:cs typeface="Arial"/>
                <a:sym typeface="Arial"/>
              </a:rPr>
              <a:t>Why language matters in driving</a:t>
            </a:r>
            <a:endParaRPr b="0" i="0" sz="3000" u="none" cap="none" strike="noStrike">
              <a:solidFill>
                <a:schemeClr val="dk1"/>
              </a:solidFill>
              <a:latin typeface="Arial"/>
              <a:ea typeface="Arial"/>
              <a:cs typeface="Arial"/>
              <a:sym typeface="Arial"/>
            </a:endParaRPr>
          </a:p>
        </p:txBody>
      </p:sp>
      <p:sp>
        <p:nvSpPr>
          <p:cNvPr id="38" name="Google Shape;38;p5"/>
          <p:cNvSpPr/>
          <p:nvPr/>
        </p:nvSpPr>
        <p:spPr>
          <a:xfrm>
            <a:off x="566928" y="1170432"/>
            <a:ext cx="914400" cy="54864"/>
          </a:xfrm>
          <a:prstGeom prst="rect">
            <a:avLst/>
          </a:prstGeom>
          <a:solidFill>
            <a:srgbClr val="76B900"/>
          </a:solidFill>
          <a:ln cap="flat" cmpd="sng" w="12700">
            <a:solidFill>
              <a:srgbClr val="76B9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5"/>
          <p:cNvSpPr/>
          <p:nvPr/>
        </p:nvSpPr>
        <p:spPr>
          <a:xfrm>
            <a:off x="640080" y="1417320"/>
            <a:ext cx="64008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700"/>
              <a:buFont typeface="Arial"/>
              <a:buNone/>
            </a:pPr>
            <a:r>
              <a:rPr b="1" i="0" lang="en-US" sz="2700" u="none" cap="none" strike="noStrike">
                <a:solidFill>
                  <a:srgbClr val="111827"/>
                </a:solidFill>
                <a:latin typeface="Arial"/>
                <a:ea typeface="Arial"/>
                <a:cs typeface="Arial"/>
                <a:sym typeface="Arial"/>
              </a:rPr>
              <a:t>Imagine riding in a self-driving taxi.</a:t>
            </a:r>
            <a:endParaRPr b="0" i="0" sz="2700" u="none" cap="none" strike="noStrike">
              <a:solidFill>
                <a:schemeClr val="dk1"/>
              </a:solidFill>
              <a:latin typeface="Arial"/>
              <a:ea typeface="Arial"/>
              <a:cs typeface="Arial"/>
              <a:sym typeface="Arial"/>
            </a:endParaRPr>
          </a:p>
        </p:txBody>
      </p:sp>
      <p:sp>
        <p:nvSpPr>
          <p:cNvPr id="40" name="Google Shape;40;p5"/>
          <p:cNvSpPr/>
          <p:nvPr/>
        </p:nvSpPr>
        <p:spPr>
          <a:xfrm>
            <a:off x="685800" y="1993392"/>
            <a:ext cx="2834640" cy="3383280"/>
          </a:xfrm>
          <a:prstGeom prst="roundRect">
            <a:avLst>
              <a:gd fmla="val 4516"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5"/>
          <p:cNvSpPr/>
          <p:nvPr/>
        </p:nvSpPr>
        <p:spPr>
          <a:xfrm>
            <a:off x="960120" y="2240280"/>
            <a:ext cx="19202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1" i="0" lang="en-US" sz="1400" u="none" cap="none" strike="noStrike">
                <a:solidFill>
                  <a:srgbClr val="6B7280"/>
                </a:solidFill>
                <a:latin typeface="Arial"/>
                <a:ea typeface="Arial"/>
                <a:cs typeface="Arial"/>
                <a:sym typeface="Arial"/>
              </a:rPr>
              <a:t>Passenger says:</a:t>
            </a:r>
            <a:endParaRPr b="0" i="0" sz="1400" u="none" cap="none" strike="noStrike">
              <a:solidFill>
                <a:schemeClr val="dk1"/>
              </a:solidFill>
              <a:latin typeface="Arial"/>
              <a:ea typeface="Arial"/>
              <a:cs typeface="Arial"/>
              <a:sym typeface="Arial"/>
            </a:endParaRPr>
          </a:p>
        </p:txBody>
      </p:sp>
      <p:sp>
        <p:nvSpPr>
          <p:cNvPr id="42" name="Google Shape;42;p5"/>
          <p:cNvSpPr/>
          <p:nvPr/>
        </p:nvSpPr>
        <p:spPr>
          <a:xfrm>
            <a:off x="960120" y="2633472"/>
            <a:ext cx="2148840" cy="475488"/>
          </a:xfrm>
          <a:prstGeom prst="roundRect">
            <a:avLst>
              <a:gd fmla="val 26923" name="adj"/>
            </a:avLst>
          </a:prstGeom>
          <a:solidFill>
            <a:srgbClr val="F9FAFB"/>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5"/>
          <p:cNvSpPr/>
          <p:nvPr/>
        </p:nvSpPr>
        <p:spPr>
          <a:xfrm>
            <a:off x="1097280" y="2734056"/>
            <a:ext cx="18745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250"/>
              <a:buFont typeface="Arial"/>
              <a:buNone/>
            </a:pPr>
            <a:r>
              <a:rPr b="0" i="0" lang="en-US" sz="1250" u="none" cap="none" strike="noStrike">
                <a:solidFill>
                  <a:srgbClr val="111827"/>
                </a:solidFill>
                <a:latin typeface="Arial"/>
                <a:ea typeface="Arial"/>
                <a:cs typeface="Arial"/>
                <a:sym typeface="Arial"/>
              </a:rPr>
              <a:t>“Turn left at the light.”</a:t>
            </a:r>
            <a:endParaRPr b="0" i="0" sz="1250" u="none" cap="none" strike="noStrike">
              <a:solidFill>
                <a:schemeClr val="dk1"/>
              </a:solidFill>
              <a:latin typeface="Arial"/>
              <a:ea typeface="Arial"/>
              <a:cs typeface="Arial"/>
              <a:sym typeface="Arial"/>
            </a:endParaRPr>
          </a:p>
        </p:txBody>
      </p:sp>
      <p:sp>
        <p:nvSpPr>
          <p:cNvPr id="44" name="Google Shape;44;p5"/>
          <p:cNvSpPr/>
          <p:nvPr/>
        </p:nvSpPr>
        <p:spPr>
          <a:xfrm>
            <a:off x="960120" y="3291840"/>
            <a:ext cx="2148840" cy="475488"/>
          </a:xfrm>
          <a:prstGeom prst="roundRect">
            <a:avLst>
              <a:gd fmla="val 26923" name="adj"/>
            </a:avLst>
          </a:prstGeom>
          <a:solidFill>
            <a:srgbClr val="F9FAFB"/>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5"/>
          <p:cNvSpPr/>
          <p:nvPr/>
        </p:nvSpPr>
        <p:spPr>
          <a:xfrm>
            <a:off x="1097280" y="3392424"/>
            <a:ext cx="18745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250"/>
              <a:buFont typeface="Arial"/>
              <a:buNone/>
            </a:pPr>
            <a:r>
              <a:rPr b="0" i="0" lang="en-US" sz="1250" u="none" cap="none" strike="noStrike">
                <a:solidFill>
                  <a:srgbClr val="111827"/>
                </a:solidFill>
                <a:latin typeface="Arial"/>
                <a:ea typeface="Arial"/>
                <a:cs typeface="Arial"/>
                <a:sym typeface="Arial"/>
              </a:rPr>
              <a:t>“Go around that truck.”</a:t>
            </a:r>
            <a:endParaRPr b="0" i="0" sz="1250" u="none" cap="none" strike="noStrike">
              <a:solidFill>
                <a:schemeClr val="dk1"/>
              </a:solidFill>
              <a:latin typeface="Arial"/>
              <a:ea typeface="Arial"/>
              <a:cs typeface="Arial"/>
              <a:sym typeface="Arial"/>
            </a:endParaRPr>
          </a:p>
        </p:txBody>
      </p:sp>
      <p:sp>
        <p:nvSpPr>
          <p:cNvPr id="46" name="Google Shape;46;p5"/>
          <p:cNvSpPr/>
          <p:nvPr/>
        </p:nvSpPr>
        <p:spPr>
          <a:xfrm>
            <a:off x="960120" y="3950208"/>
            <a:ext cx="2148840" cy="475488"/>
          </a:xfrm>
          <a:prstGeom prst="roundRect">
            <a:avLst>
              <a:gd fmla="val 26923" name="adj"/>
            </a:avLst>
          </a:prstGeom>
          <a:solidFill>
            <a:srgbClr val="ECFDF5"/>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5"/>
          <p:cNvSpPr/>
          <p:nvPr/>
        </p:nvSpPr>
        <p:spPr>
          <a:xfrm>
            <a:off x="1097280" y="4050792"/>
            <a:ext cx="18745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250"/>
              <a:buFont typeface="Arial"/>
              <a:buNone/>
            </a:pPr>
            <a:r>
              <a:rPr b="0" i="0" lang="en-US" sz="1250" u="none" cap="none" strike="noStrike">
                <a:solidFill>
                  <a:srgbClr val="111827"/>
                </a:solidFill>
                <a:latin typeface="Arial"/>
                <a:ea typeface="Arial"/>
                <a:cs typeface="Arial"/>
                <a:sym typeface="Arial"/>
              </a:rPr>
              <a:t>“Drop me off near the entrance.”</a:t>
            </a:r>
            <a:endParaRPr b="0" i="0" sz="1250" u="none" cap="none" strike="noStrike">
              <a:solidFill>
                <a:schemeClr val="dk1"/>
              </a:solidFill>
              <a:latin typeface="Arial"/>
              <a:ea typeface="Arial"/>
              <a:cs typeface="Arial"/>
              <a:sym typeface="Arial"/>
            </a:endParaRPr>
          </a:p>
        </p:txBody>
      </p:sp>
      <p:sp>
        <p:nvSpPr>
          <p:cNvPr id="48" name="Google Shape;48;p5"/>
          <p:cNvSpPr/>
          <p:nvPr/>
        </p:nvSpPr>
        <p:spPr>
          <a:xfrm>
            <a:off x="3749040" y="2980944"/>
            <a:ext cx="685800" cy="685800"/>
          </a:xfrm>
          <a:prstGeom prst="chevron">
            <a:avLst>
              <a:gd fmla="val 50000" name="adj"/>
            </a:avLst>
          </a:prstGeom>
          <a:solidFill>
            <a:srgbClr val="76B900"/>
          </a:solidFill>
          <a:ln cap="flat" cmpd="sng" w="12700">
            <a:solidFill>
              <a:srgbClr val="76B9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5"/>
          <p:cNvSpPr/>
          <p:nvPr/>
        </p:nvSpPr>
        <p:spPr>
          <a:xfrm>
            <a:off x="4572000" y="1993392"/>
            <a:ext cx="2926080" cy="3383280"/>
          </a:xfrm>
          <a:prstGeom prst="roundRect">
            <a:avLst>
              <a:gd fmla="val 4375"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5"/>
          <p:cNvSpPr/>
          <p:nvPr/>
        </p:nvSpPr>
        <p:spPr>
          <a:xfrm>
            <a:off x="4828032" y="2240280"/>
            <a:ext cx="23774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400"/>
              <a:buFont typeface="Arial"/>
              <a:buNone/>
            </a:pPr>
            <a:r>
              <a:rPr b="1" i="0" lang="en-US" sz="1400" u="none" cap="none" strike="noStrike">
                <a:solidFill>
                  <a:srgbClr val="6B7280"/>
                </a:solidFill>
                <a:latin typeface="Arial"/>
                <a:ea typeface="Arial"/>
                <a:cs typeface="Arial"/>
                <a:sym typeface="Arial"/>
              </a:rPr>
              <a:t>Autonomous vehicle must connect:</a:t>
            </a:r>
            <a:endParaRPr b="0" i="0" sz="1400" u="none" cap="none" strike="noStrike">
              <a:solidFill>
                <a:schemeClr val="dk1"/>
              </a:solidFill>
              <a:latin typeface="Arial"/>
              <a:ea typeface="Arial"/>
              <a:cs typeface="Arial"/>
              <a:sym typeface="Arial"/>
            </a:endParaRPr>
          </a:p>
        </p:txBody>
      </p:sp>
      <p:sp>
        <p:nvSpPr>
          <p:cNvPr id="51" name="Google Shape;51;p5"/>
          <p:cNvSpPr/>
          <p:nvPr/>
        </p:nvSpPr>
        <p:spPr>
          <a:xfrm>
            <a:off x="4892040" y="2770632"/>
            <a:ext cx="91440" cy="91440"/>
          </a:xfrm>
          <a:prstGeom prst="ellipse">
            <a:avLst/>
          </a:prstGeom>
          <a:solidFill>
            <a:srgbClr val="76B900"/>
          </a:solidFill>
          <a:ln cap="flat" cmpd="sng" w="12700">
            <a:solidFill>
              <a:srgbClr val="76B9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5"/>
          <p:cNvSpPr/>
          <p:nvPr/>
        </p:nvSpPr>
        <p:spPr>
          <a:xfrm>
            <a:off x="5093208" y="2670048"/>
            <a:ext cx="2286000" cy="301752"/>
          </a:xfrm>
          <a:prstGeom prst="rect">
            <a:avLst/>
          </a:prstGeom>
          <a:noFill/>
          <a:ln>
            <a:noFill/>
          </a:ln>
        </p:spPr>
        <p:txBody>
          <a:bodyPr anchorCtr="0" anchor="ctr" bIns="250" lIns="250" spcFirstLastPara="1" rIns="250" wrap="square" tIns="250">
            <a:noAutofit/>
          </a:bodyPr>
          <a:lstStyle/>
          <a:p>
            <a:pPr indent="0" lvl="0" marL="0" marR="0" rtl="0" algn="l">
              <a:lnSpc>
                <a:spcPct val="100000"/>
              </a:lnSpc>
              <a:spcBef>
                <a:spcPts val="0"/>
              </a:spcBef>
              <a:spcAft>
                <a:spcPts val="0"/>
              </a:spcAft>
              <a:buClr>
                <a:srgbClr val="111827"/>
              </a:buClr>
              <a:buSzPts val="1550"/>
              <a:buFont typeface="Arial"/>
              <a:buNone/>
            </a:pPr>
            <a:r>
              <a:rPr b="0" i="0" lang="en-US" sz="1550" u="none" cap="none" strike="noStrike">
                <a:solidFill>
                  <a:srgbClr val="111827"/>
                </a:solidFill>
                <a:latin typeface="Arial"/>
                <a:ea typeface="Arial"/>
                <a:cs typeface="Arial"/>
                <a:sym typeface="Arial"/>
              </a:rPr>
              <a:t>language</a:t>
            </a:r>
            <a:endParaRPr b="0" i="0" sz="1550" u="none" cap="none" strike="noStrike">
              <a:solidFill>
                <a:schemeClr val="dk1"/>
              </a:solidFill>
              <a:latin typeface="Arial"/>
              <a:ea typeface="Arial"/>
              <a:cs typeface="Arial"/>
              <a:sym typeface="Arial"/>
            </a:endParaRPr>
          </a:p>
        </p:txBody>
      </p:sp>
      <p:sp>
        <p:nvSpPr>
          <p:cNvPr id="53" name="Google Shape;53;p5"/>
          <p:cNvSpPr/>
          <p:nvPr/>
        </p:nvSpPr>
        <p:spPr>
          <a:xfrm>
            <a:off x="4892040" y="3337560"/>
            <a:ext cx="91440" cy="91440"/>
          </a:xfrm>
          <a:prstGeom prst="ellipse">
            <a:avLst/>
          </a:prstGeom>
          <a:solidFill>
            <a:srgbClr val="76B900"/>
          </a:solidFill>
          <a:ln cap="flat" cmpd="sng" w="12700">
            <a:solidFill>
              <a:srgbClr val="76B9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5"/>
          <p:cNvSpPr/>
          <p:nvPr/>
        </p:nvSpPr>
        <p:spPr>
          <a:xfrm>
            <a:off x="5093208" y="3236976"/>
            <a:ext cx="2286000" cy="301752"/>
          </a:xfrm>
          <a:prstGeom prst="rect">
            <a:avLst/>
          </a:prstGeom>
          <a:noFill/>
          <a:ln>
            <a:noFill/>
          </a:ln>
        </p:spPr>
        <p:txBody>
          <a:bodyPr anchorCtr="0" anchor="ctr" bIns="250" lIns="250" spcFirstLastPara="1" rIns="250" wrap="square" tIns="250">
            <a:noAutofit/>
          </a:bodyPr>
          <a:lstStyle/>
          <a:p>
            <a:pPr indent="0" lvl="0" marL="0" marR="0" rtl="0" algn="l">
              <a:lnSpc>
                <a:spcPct val="100000"/>
              </a:lnSpc>
              <a:spcBef>
                <a:spcPts val="0"/>
              </a:spcBef>
              <a:spcAft>
                <a:spcPts val="0"/>
              </a:spcAft>
              <a:buClr>
                <a:srgbClr val="111827"/>
              </a:buClr>
              <a:buSzPts val="1550"/>
              <a:buFont typeface="Arial"/>
              <a:buNone/>
            </a:pPr>
            <a:r>
              <a:rPr b="0" i="0" lang="en-US" sz="1550" u="none" cap="none" strike="noStrike">
                <a:solidFill>
                  <a:srgbClr val="111827"/>
                </a:solidFill>
                <a:latin typeface="Arial"/>
                <a:ea typeface="Arial"/>
                <a:cs typeface="Arial"/>
                <a:sym typeface="Arial"/>
              </a:rPr>
              <a:t>road context</a:t>
            </a:r>
            <a:endParaRPr b="0" i="0" sz="1550" u="none" cap="none" strike="noStrike">
              <a:solidFill>
                <a:schemeClr val="dk1"/>
              </a:solidFill>
              <a:latin typeface="Arial"/>
              <a:ea typeface="Arial"/>
              <a:cs typeface="Arial"/>
              <a:sym typeface="Arial"/>
            </a:endParaRPr>
          </a:p>
        </p:txBody>
      </p:sp>
      <p:sp>
        <p:nvSpPr>
          <p:cNvPr id="55" name="Google Shape;55;p5"/>
          <p:cNvSpPr/>
          <p:nvPr/>
        </p:nvSpPr>
        <p:spPr>
          <a:xfrm>
            <a:off x="4892040" y="3904488"/>
            <a:ext cx="91440" cy="91440"/>
          </a:xfrm>
          <a:prstGeom prst="ellipse">
            <a:avLst/>
          </a:prstGeom>
          <a:solidFill>
            <a:srgbClr val="76B900"/>
          </a:solidFill>
          <a:ln cap="flat" cmpd="sng" w="12700">
            <a:solidFill>
              <a:srgbClr val="76B9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5"/>
          <p:cNvSpPr/>
          <p:nvPr/>
        </p:nvSpPr>
        <p:spPr>
          <a:xfrm>
            <a:off x="5093208" y="3803904"/>
            <a:ext cx="2286000" cy="301752"/>
          </a:xfrm>
          <a:prstGeom prst="rect">
            <a:avLst/>
          </a:prstGeom>
          <a:noFill/>
          <a:ln>
            <a:noFill/>
          </a:ln>
        </p:spPr>
        <p:txBody>
          <a:bodyPr anchorCtr="0" anchor="ctr" bIns="250" lIns="250" spcFirstLastPara="1" rIns="250" wrap="square" tIns="250">
            <a:noAutofit/>
          </a:bodyPr>
          <a:lstStyle/>
          <a:p>
            <a:pPr indent="0" lvl="0" marL="0" marR="0" rtl="0" algn="l">
              <a:lnSpc>
                <a:spcPct val="100000"/>
              </a:lnSpc>
              <a:spcBef>
                <a:spcPts val="0"/>
              </a:spcBef>
              <a:spcAft>
                <a:spcPts val="0"/>
              </a:spcAft>
              <a:buClr>
                <a:srgbClr val="111827"/>
              </a:buClr>
              <a:buSzPts val="1550"/>
              <a:buFont typeface="Arial"/>
              <a:buNone/>
            </a:pPr>
            <a:r>
              <a:rPr b="0" i="0" lang="en-US" sz="1550" u="none" cap="none" strike="noStrike">
                <a:solidFill>
                  <a:srgbClr val="111827"/>
                </a:solidFill>
                <a:latin typeface="Arial"/>
                <a:ea typeface="Arial"/>
                <a:cs typeface="Arial"/>
                <a:sym typeface="Arial"/>
              </a:rPr>
              <a:t>traffic agents</a:t>
            </a:r>
            <a:endParaRPr b="0" i="0" sz="1550" u="none" cap="none" strike="noStrike">
              <a:solidFill>
                <a:schemeClr val="dk1"/>
              </a:solidFill>
              <a:latin typeface="Arial"/>
              <a:ea typeface="Arial"/>
              <a:cs typeface="Arial"/>
              <a:sym typeface="Arial"/>
            </a:endParaRPr>
          </a:p>
        </p:txBody>
      </p:sp>
      <p:sp>
        <p:nvSpPr>
          <p:cNvPr id="57" name="Google Shape;57;p5"/>
          <p:cNvSpPr/>
          <p:nvPr/>
        </p:nvSpPr>
        <p:spPr>
          <a:xfrm>
            <a:off x="4892040" y="4471416"/>
            <a:ext cx="91440" cy="91440"/>
          </a:xfrm>
          <a:prstGeom prst="ellipse">
            <a:avLst/>
          </a:prstGeom>
          <a:solidFill>
            <a:srgbClr val="76B900"/>
          </a:solidFill>
          <a:ln cap="flat" cmpd="sng" w="12700">
            <a:solidFill>
              <a:srgbClr val="76B9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5"/>
          <p:cNvSpPr/>
          <p:nvPr/>
        </p:nvSpPr>
        <p:spPr>
          <a:xfrm>
            <a:off x="5093208" y="4370832"/>
            <a:ext cx="2286000" cy="301752"/>
          </a:xfrm>
          <a:prstGeom prst="rect">
            <a:avLst/>
          </a:prstGeom>
          <a:noFill/>
          <a:ln>
            <a:noFill/>
          </a:ln>
        </p:spPr>
        <p:txBody>
          <a:bodyPr anchorCtr="0" anchor="ctr" bIns="250" lIns="250" spcFirstLastPara="1" rIns="250" wrap="square" tIns="250">
            <a:noAutofit/>
          </a:bodyPr>
          <a:lstStyle/>
          <a:p>
            <a:pPr indent="0" lvl="0" marL="0" marR="0" rtl="0" algn="l">
              <a:lnSpc>
                <a:spcPct val="100000"/>
              </a:lnSpc>
              <a:spcBef>
                <a:spcPts val="0"/>
              </a:spcBef>
              <a:spcAft>
                <a:spcPts val="0"/>
              </a:spcAft>
              <a:buClr>
                <a:srgbClr val="111827"/>
              </a:buClr>
              <a:buSzPts val="1550"/>
              <a:buFont typeface="Arial"/>
              <a:buNone/>
            </a:pPr>
            <a:r>
              <a:rPr b="0" i="0" lang="en-US" sz="1550" u="none" cap="none" strike="noStrike">
                <a:solidFill>
                  <a:srgbClr val="111827"/>
                </a:solidFill>
                <a:latin typeface="Arial"/>
                <a:ea typeface="Arial"/>
                <a:cs typeface="Arial"/>
                <a:sym typeface="Arial"/>
              </a:rPr>
              <a:t>planning over time</a:t>
            </a:r>
            <a:endParaRPr b="0" i="0" sz="1550" u="none" cap="none" strike="noStrike">
              <a:solidFill>
                <a:schemeClr val="dk1"/>
              </a:solidFill>
              <a:latin typeface="Arial"/>
              <a:ea typeface="Arial"/>
              <a:cs typeface="Arial"/>
              <a:sym typeface="Arial"/>
            </a:endParaRPr>
          </a:p>
        </p:txBody>
      </p:sp>
      <p:sp>
        <p:nvSpPr>
          <p:cNvPr id="59" name="Google Shape;59;p5"/>
          <p:cNvSpPr/>
          <p:nvPr/>
        </p:nvSpPr>
        <p:spPr>
          <a:xfrm>
            <a:off x="8229600" y="1600200"/>
            <a:ext cx="3200400" cy="4206240"/>
          </a:xfrm>
          <a:prstGeom prst="roundRect">
            <a:avLst>
              <a:gd fmla="val 4000" name="adj"/>
            </a:avLst>
          </a:prstGeom>
          <a:solidFill>
            <a:srgbClr val="111827"/>
          </a:solidFill>
          <a:ln cap="flat" cmpd="sng" w="12700">
            <a:solidFill>
              <a:srgbClr val="E5E7E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5"/>
          <p:cNvSpPr/>
          <p:nvPr/>
        </p:nvSpPr>
        <p:spPr>
          <a:xfrm>
            <a:off x="8531345" y="1876780"/>
            <a:ext cx="22860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6B900"/>
              </a:buClr>
              <a:buSzPts val="1300"/>
              <a:buFont typeface="Arial"/>
              <a:buNone/>
            </a:pPr>
            <a:r>
              <a:rPr b="1" i="0" lang="en-US" sz="1300" u="none" cap="none" strike="noStrike">
                <a:solidFill>
                  <a:srgbClr val="76B900"/>
                </a:solidFill>
                <a:latin typeface="Arial"/>
                <a:ea typeface="Arial"/>
                <a:cs typeface="Arial"/>
                <a:sym typeface="Arial"/>
              </a:rPr>
              <a:t>Core question</a:t>
            </a:r>
            <a:endParaRPr b="0" i="0" sz="1300" u="none" cap="none" strike="noStrike">
              <a:solidFill>
                <a:schemeClr val="dk1"/>
              </a:solidFill>
              <a:latin typeface="Arial"/>
              <a:ea typeface="Arial"/>
              <a:cs typeface="Arial"/>
              <a:sym typeface="Arial"/>
            </a:endParaRPr>
          </a:p>
        </p:txBody>
      </p:sp>
      <p:sp>
        <p:nvSpPr>
          <p:cNvPr id="61" name="Google Shape;61;p5"/>
          <p:cNvSpPr/>
          <p:nvPr/>
        </p:nvSpPr>
        <p:spPr>
          <a:xfrm>
            <a:off x="8503920" y="2487168"/>
            <a:ext cx="2514600" cy="1554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600"/>
              <a:buFont typeface="Arial"/>
              <a:buNone/>
            </a:pPr>
            <a:r>
              <a:rPr b="1" i="0" lang="en-US" sz="2600" u="none" cap="none" strike="noStrike">
                <a:solidFill>
                  <a:srgbClr val="FFFFFF"/>
                </a:solidFill>
                <a:latin typeface="Arial"/>
                <a:ea typeface="Arial"/>
                <a:cs typeface="Arial"/>
                <a:sym typeface="Arial"/>
              </a:rPr>
              <a:t>How do we train AVs to understand instructions the way a human driver would?</a:t>
            </a:r>
            <a:endParaRPr b="0" i="0" sz="2600" u="none" cap="none" strike="noStrike">
              <a:solidFill>
                <a:schemeClr val="dk1"/>
              </a:solidFill>
              <a:latin typeface="Arial"/>
              <a:ea typeface="Arial"/>
              <a:cs typeface="Arial"/>
              <a:sym typeface="Arial"/>
            </a:endParaRPr>
          </a:p>
        </p:txBody>
      </p:sp>
      <p:sp>
        <p:nvSpPr>
          <p:cNvPr id="62" name="Google Shape;62;p5"/>
          <p:cNvSpPr/>
          <p:nvPr/>
        </p:nvSpPr>
        <p:spPr>
          <a:xfrm>
            <a:off x="8531352" y="4572000"/>
            <a:ext cx="2423160" cy="502920"/>
          </a:xfrm>
          <a:prstGeom prst="rect">
            <a:avLst/>
          </a:prstGeom>
          <a:noFill/>
          <a:ln>
            <a:noFill/>
          </a:ln>
        </p:spPr>
        <p:txBody>
          <a:bodyPr anchorCtr="0" anchor="ctr" bIns="250" lIns="250" spcFirstLastPara="1" rIns="250" wrap="square" tIns="250">
            <a:noAutofit/>
          </a:bodyPr>
          <a:lstStyle/>
          <a:p>
            <a:pPr indent="0" lvl="0" marL="0" marR="0" rtl="0" algn="l">
              <a:lnSpc>
                <a:spcPct val="100000"/>
              </a:lnSpc>
              <a:spcBef>
                <a:spcPts val="0"/>
              </a:spcBef>
              <a:spcAft>
                <a:spcPts val="0"/>
              </a:spcAft>
              <a:buClr>
                <a:srgbClr val="D1D5DB"/>
              </a:buClr>
              <a:buSzPts val="1300"/>
              <a:buFont typeface="Arial"/>
              <a:buNone/>
            </a:pPr>
            <a:r>
              <a:rPr b="0" i="0" lang="en-US" sz="1300" u="none" cap="none" strike="noStrike">
                <a:solidFill>
                  <a:srgbClr val="D1D5DB"/>
                </a:solidFill>
                <a:latin typeface="Arial"/>
                <a:ea typeface="Arial"/>
                <a:cs typeface="Arial"/>
                <a:sym typeface="Arial"/>
              </a:rPr>
              <a:t>doPlan addresses this through passenger-centered annotation.</a:t>
            </a:r>
            <a:endParaRPr b="0" i="0" sz="1300" u="none" cap="none" strike="noStrike">
              <a:solidFill>
                <a:schemeClr val="dk1"/>
              </a:solidFill>
              <a:latin typeface="Arial"/>
              <a:ea typeface="Arial"/>
              <a:cs typeface="Arial"/>
              <a:sym typeface="Arial"/>
            </a:endParaRPr>
          </a:p>
        </p:txBody>
      </p:sp>
      <p:sp>
        <p:nvSpPr>
          <p:cNvPr id="63" name="Google Shape;63;p5"/>
          <p:cNvSpPr txBox="1"/>
          <p:nvPr>
            <p:ph idx="4294967295" type="sldNum"/>
          </p:nvPr>
        </p:nvSpPr>
        <p:spPr>
          <a:xfrm>
            <a:off x="11430000" y="6583680"/>
            <a:ext cx="8000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None/>
            </a:pPr>
            <a:fld id="{00000000-1234-1234-1234-123412341234}" type="slidenum">
              <a:rPr b="0" i="0" lang="en-US" sz="1200" u="none" cap="none" strike="noStrike">
                <a:solidFill>
                  <a:srgbClr val="6B7280"/>
                </a:solidFill>
                <a:latin typeface="Arial"/>
                <a:ea typeface="Arial"/>
                <a:cs typeface="Arial"/>
                <a:sym typeface="Arial"/>
              </a:rPr>
              <a:t>‹#›</a:t>
            </a:fld>
            <a:endParaRPr b="0" i="0" sz="1200" u="none" cap="none" strike="noStrike">
              <a:solidFill>
                <a:srgbClr val="6B728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7" name="Shape 67"/>
        <p:cNvGrpSpPr/>
        <p:nvPr/>
      </p:nvGrpSpPr>
      <p:grpSpPr>
        <a:xfrm>
          <a:off x="0" y="0"/>
          <a:ext cx="0" cy="0"/>
          <a:chOff x="0" y="0"/>
          <a:chExt cx="0" cy="0"/>
        </a:xfrm>
      </p:grpSpPr>
      <p:sp>
        <p:nvSpPr>
          <p:cNvPr id="68" name="Google Shape;68;p6"/>
          <p:cNvSpPr txBox="1"/>
          <p:nvPr/>
        </p:nvSpPr>
        <p:spPr>
          <a:xfrm>
            <a:off x="502920" y="256032"/>
            <a:ext cx="25603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76B900"/>
                </a:solidFill>
                <a:latin typeface="Arial"/>
                <a:ea typeface="Arial"/>
                <a:cs typeface="Arial"/>
                <a:sym typeface="Arial"/>
              </a:rPr>
              <a:t>WHY NOW</a:t>
            </a:r>
            <a:endParaRPr b="0" i="0" sz="1400" u="none" cap="none" strike="noStrike">
              <a:solidFill>
                <a:srgbClr val="000000"/>
              </a:solidFill>
              <a:latin typeface="Arial"/>
              <a:ea typeface="Arial"/>
              <a:cs typeface="Arial"/>
              <a:sym typeface="Arial"/>
            </a:endParaRPr>
          </a:p>
        </p:txBody>
      </p:sp>
      <p:sp>
        <p:nvSpPr>
          <p:cNvPr id="69" name="Google Shape;69;p6"/>
          <p:cNvSpPr txBox="1"/>
          <p:nvPr/>
        </p:nvSpPr>
        <p:spPr>
          <a:xfrm>
            <a:off x="502920" y="512064"/>
            <a:ext cx="7498079"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111827"/>
                </a:solidFill>
                <a:latin typeface="Arial"/>
                <a:ea typeface="Arial"/>
                <a:cs typeface="Arial"/>
                <a:sym typeface="Arial"/>
              </a:rPr>
              <a:t>New hardware makes language-guided driving practical</a:t>
            </a:r>
            <a:endParaRPr b="0" i="0" sz="1400" u="none" cap="none" strike="noStrike">
              <a:solidFill>
                <a:srgbClr val="000000"/>
              </a:solidFill>
              <a:latin typeface="Arial"/>
              <a:ea typeface="Arial"/>
              <a:cs typeface="Arial"/>
              <a:sym typeface="Arial"/>
            </a:endParaRPr>
          </a:p>
        </p:txBody>
      </p:sp>
      <p:sp>
        <p:nvSpPr>
          <p:cNvPr id="70" name="Google Shape;70;p6"/>
          <p:cNvSpPr/>
          <p:nvPr/>
        </p:nvSpPr>
        <p:spPr>
          <a:xfrm>
            <a:off x="502920" y="941832"/>
            <a:ext cx="411480" cy="36576"/>
          </a:xfrm>
          <a:prstGeom prst="rect">
            <a:avLst/>
          </a:prstGeom>
          <a:solidFill>
            <a:srgbClr val="76B900"/>
          </a:solidFill>
          <a:ln cap="flat" cmpd="sng" w="9525">
            <a:solidFill>
              <a:srgbClr val="76B90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6"/>
          <p:cNvSpPr/>
          <p:nvPr/>
        </p:nvSpPr>
        <p:spPr>
          <a:xfrm>
            <a:off x="594360" y="1325880"/>
            <a:ext cx="6812280" cy="4526280"/>
          </a:xfrm>
          <a:prstGeom prst="roundRect">
            <a:avLst>
              <a:gd fmla="val 16667" name="adj"/>
            </a:avLst>
          </a:prstGeom>
          <a:solidFill>
            <a:srgbClr val="FFFFFF"/>
          </a:solidFill>
          <a:ln cap="flat" cmpd="sng" w="1270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6"/>
          <p:cNvSpPr txBox="1"/>
          <p:nvPr/>
        </p:nvSpPr>
        <p:spPr>
          <a:xfrm>
            <a:off x="868680" y="1554480"/>
            <a:ext cx="621792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1827"/>
                </a:solidFill>
                <a:latin typeface="Arial"/>
                <a:ea typeface="Arial"/>
                <a:cs typeface="Arial"/>
                <a:sym typeface="Arial"/>
              </a:rPr>
              <a:t>From annotation to an autonomous vehicle</a:t>
            </a:r>
            <a:endParaRPr b="0" i="0" sz="1400" u="none" cap="none" strike="noStrike">
              <a:solidFill>
                <a:srgbClr val="000000"/>
              </a:solidFill>
              <a:latin typeface="Arial"/>
              <a:ea typeface="Arial"/>
              <a:cs typeface="Arial"/>
              <a:sym typeface="Arial"/>
            </a:endParaRPr>
          </a:p>
        </p:txBody>
      </p:sp>
      <p:sp>
        <p:nvSpPr>
          <p:cNvPr id="73" name="Google Shape;73;p6"/>
          <p:cNvSpPr/>
          <p:nvPr/>
        </p:nvSpPr>
        <p:spPr>
          <a:xfrm>
            <a:off x="868680" y="2240280"/>
            <a:ext cx="1463040" cy="1051560"/>
          </a:xfrm>
          <a:prstGeom prst="roundRect">
            <a:avLst>
              <a:gd fmla="val 16667" name="adj"/>
            </a:avLst>
          </a:prstGeom>
          <a:solidFill>
            <a:srgbClr val="FFFFFF"/>
          </a:solidFill>
          <a:ln cap="flat" cmpd="sng" w="1270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6"/>
          <p:cNvSpPr/>
          <p:nvPr/>
        </p:nvSpPr>
        <p:spPr>
          <a:xfrm>
            <a:off x="1005839" y="2386584"/>
            <a:ext cx="201168" cy="201168"/>
          </a:xfrm>
          <a:prstGeom prst="ellipse">
            <a:avLst/>
          </a:prstGeom>
          <a:solidFill>
            <a:srgbClr val="76B900"/>
          </a:solidFill>
          <a:ln cap="flat" cmpd="sng" w="9525">
            <a:solidFill>
              <a:srgbClr val="76B90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6"/>
          <p:cNvSpPr txBox="1"/>
          <p:nvPr/>
        </p:nvSpPr>
        <p:spPr>
          <a:xfrm>
            <a:off x="1280160" y="2350008"/>
            <a:ext cx="91440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11827"/>
                </a:solidFill>
                <a:latin typeface="Arial"/>
                <a:ea typeface="Arial"/>
                <a:cs typeface="Arial"/>
                <a:sym typeface="Arial"/>
              </a:rPr>
              <a:t>doPlan labels</a:t>
            </a:r>
            <a:endParaRPr b="0" i="0" sz="1400" u="none" cap="none" strike="noStrike">
              <a:solidFill>
                <a:srgbClr val="000000"/>
              </a:solidFill>
              <a:latin typeface="Arial"/>
              <a:ea typeface="Arial"/>
              <a:cs typeface="Arial"/>
              <a:sym typeface="Arial"/>
            </a:endParaRPr>
          </a:p>
        </p:txBody>
      </p:sp>
      <p:sp>
        <p:nvSpPr>
          <p:cNvPr id="76" name="Google Shape;76;p6"/>
          <p:cNvSpPr txBox="1"/>
          <p:nvPr/>
        </p:nvSpPr>
        <p:spPr>
          <a:xfrm>
            <a:off x="1060085" y="2711572"/>
            <a:ext cx="9144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64748B"/>
                </a:solidFill>
                <a:latin typeface="Arial"/>
                <a:ea typeface="Arial"/>
                <a:cs typeface="Arial"/>
                <a:sym typeface="Arial"/>
              </a:rPr>
              <a:t>human passenger instructions</a:t>
            </a:r>
            <a:endParaRPr b="0" i="0" sz="1400" u="none" cap="none" strike="noStrike">
              <a:solidFill>
                <a:srgbClr val="000000"/>
              </a:solidFill>
              <a:latin typeface="Arial"/>
              <a:ea typeface="Arial"/>
              <a:cs typeface="Arial"/>
              <a:sym typeface="Arial"/>
            </a:endParaRPr>
          </a:p>
        </p:txBody>
      </p:sp>
      <p:sp>
        <p:nvSpPr>
          <p:cNvPr id="77" name="Google Shape;77;p6"/>
          <p:cNvSpPr/>
          <p:nvPr/>
        </p:nvSpPr>
        <p:spPr>
          <a:xfrm>
            <a:off x="2697480" y="2240280"/>
            <a:ext cx="1463040" cy="1051560"/>
          </a:xfrm>
          <a:prstGeom prst="roundRect">
            <a:avLst>
              <a:gd fmla="val 16667" name="adj"/>
            </a:avLst>
          </a:prstGeom>
          <a:solidFill>
            <a:srgbClr val="FFFFFF"/>
          </a:solidFill>
          <a:ln cap="flat" cmpd="sng" w="1270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6"/>
          <p:cNvSpPr/>
          <p:nvPr/>
        </p:nvSpPr>
        <p:spPr>
          <a:xfrm>
            <a:off x="2834640" y="2386584"/>
            <a:ext cx="201168" cy="201168"/>
          </a:xfrm>
          <a:prstGeom prst="ellipse">
            <a:avLst/>
          </a:prstGeom>
          <a:solidFill>
            <a:srgbClr val="2563EB"/>
          </a:solidFill>
          <a:ln cap="flat" cmpd="sng" w="9525">
            <a:solidFill>
              <a:srgbClr val="2563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6"/>
          <p:cNvSpPr txBox="1"/>
          <p:nvPr/>
        </p:nvSpPr>
        <p:spPr>
          <a:xfrm>
            <a:off x="3108960" y="2350008"/>
            <a:ext cx="91440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11827"/>
                </a:solidFill>
                <a:latin typeface="Arial"/>
                <a:ea typeface="Arial"/>
                <a:cs typeface="Arial"/>
                <a:sym typeface="Arial"/>
              </a:rPr>
              <a:t>Training data</a:t>
            </a:r>
            <a:endParaRPr b="0" i="0" sz="1400" u="none" cap="none" strike="noStrike">
              <a:solidFill>
                <a:srgbClr val="000000"/>
              </a:solidFill>
              <a:latin typeface="Arial"/>
              <a:ea typeface="Arial"/>
              <a:cs typeface="Arial"/>
              <a:sym typeface="Arial"/>
            </a:endParaRPr>
          </a:p>
        </p:txBody>
      </p:sp>
      <p:sp>
        <p:nvSpPr>
          <p:cNvPr id="80" name="Google Shape;80;p6"/>
          <p:cNvSpPr txBox="1"/>
          <p:nvPr/>
        </p:nvSpPr>
        <p:spPr>
          <a:xfrm>
            <a:off x="2834660" y="2711572"/>
            <a:ext cx="9144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64748B"/>
                </a:solidFill>
                <a:latin typeface="Arial"/>
                <a:ea typeface="Arial"/>
                <a:cs typeface="Arial"/>
                <a:sym typeface="Arial"/>
              </a:rPr>
              <a:t>examples for future models</a:t>
            </a:r>
            <a:endParaRPr b="0" i="0" sz="1400" u="none" cap="none" strike="noStrike">
              <a:solidFill>
                <a:srgbClr val="000000"/>
              </a:solidFill>
              <a:latin typeface="Arial"/>
              <a:ea typeface="Arial"/>
              <a:cs typeface="Arial"/>
              <a:sym typeface="Arial"/>
            </a:endParaRPr>
          </a:p>
        </p:txBody>
      </p:sp>
      <p:sp>
        <p:nvSpPr>
          <p:cNvPr id="81" name="Google Shape;81;p6"/>
          <p:cNvSpPr/>
          <p:nvPr/>
        </p:nvSpPr>
        <p:spPr>
          <a:xfrm>
            <a:off x="4526280" y="2240280"/>
            <a:ext cx="1463040" cy="1051560"/>
          </a:xfrm>
          <a:prstGeom prst="roundRect">
            <a:avLst>
              <a:gd fmla="val 16667" name="adj"/>
            </a:avLst>
          </a:prstGeom>
          <a:solidFill>
            <a:srgbClr val="FFFFFF"/>
          </a:solidFill>
          <a:ln cap="flat" cmpd="sng" w="1270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6"/>
          <p:cNvSpPr/>
          <p:nvPr/>
        </p:nvSpPr>
        <p:spPr>
          <a:xfrm>
            <a:off x="4663440" y="2386584"/>
            <a:ext cx="201168" cy="201168"/>
          </a:xfrm>
          <a:prstGeom prst="ellipse">
            <a:avLst/>
          </a:prstGeom>
          <a:solidFill>
            <a:srgbClr val="7C3AED"/>
          </a:solidFill>
          <a:ln cap="flat" cmpd="sng" w="9525">
            <a:solidFill>
              <a:srgbClr val="7C3AE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6"/>
          <p:cNvSpPr txBox="1"/>
          <p:nvPr/>
        </p:nvSpPr>
        <p:spPr>
          <a:xfrm>
            <a:off x="4937760" y="2350008"/>
            <a:ext cx="91440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11827"/>
                </a:solidFill>
                <a:latin typeface="Arial"/>
                <a:ea typeface="Arial"/>
                <a:cs typeface="Arial"/>
                <a:sym typeface="Arial"/>
              </a:rPr>
              <a:t>VLA model</a:t>
            </a:r>
            <a:endParaRPr b="0" i="0" sz="1400" u="none" cap="none" strike="noStrike">
              <a:solidFill>
                <a:srgbClr val="000000"/>
              </a:solidFill>
              <a:latin typeface="Arial"/>
              <a:ea typeface="Arial"/>
              <a:cs typeface="Arial"/>
              <a:sym typeface="Arial"/>
            </a:endParaRPr>
          </a:p>
        </p:txBody>
      </p:sp>
      <p:sp>
        <p:nvSpPr>
          <p:cNvPr id="84" name="Google Shape;84;p6"/>
          <p:cNvSpPr txBox="1"/>
          <p:nvPr/>
        </p:nvSpPr>
        <p:spPr>
          <a:xfrm>
            <a:off x="4663460" y="2711572"/>
            <a:ext cx="9144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64748B"/>
                </a:solidFill>
                <a:latin typeface="Arial"/>
                <a:ea typeface="Arial"/>
                <a:cs typeface="Arial"/>
                <a:sym typeface="Arial"/>
              </a:rPr>
              <a:t>language + vision + action</a:t>
            </a:r>
            <a:endParaRPr b="0" i="0" sz="1400" u="none" cap="none" strike="noStrike">
              <a:solidFill>
                <a:srgbClr val="000000"/>
              </a:solidFill>
              <a:latin typeface="Arial"/>
              <a:ea typeface="Arial"/>
              <a:cs typeface="Arial"/>
              <a:sym typeface="Arial"/>
            </a:endParaRPr>
          </a:p>
        </p:txBody>
      </p:sp>
      <p:sp>
        <p:nvSpPr>
          <p:cNvPr id="85" name="Google Shape;85;p6"/>
          <p:cNvSpPr/>
          <p:nvPr/>
        </p:nvSpPr>
        <p:spPr>
          <a:xfrm>
            <a:off x="6355080" y="2240280"/>
            <a:ext cx="777240" cy="1051560"/>
          </a:xfrm>
          <a:prstGeom prst="roundRect">
            <a:avLst>
              <a:gd fmla="val 16667" name="adj"/>
            </a:avLst>
          </a:prstGeom>
          <a:solidFill>
            <a:srgbClr val="FFFFFF"/>
          </a:solidFill>
          <a:ln cap="flat" cmpd="sng" w="1270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6"/>
          <p:cNvSpPr/>
          <p:nvPr/>
        </p:nvSpPr>
        <p:spPr>
          <a:xfrm>
            <a:off x="6492240" y="2386584"/>
            <a:ext cx="201168" cy="201168"/>
          </a:xfrm>
          <a:prstGeom prst="ellipse">
            <a:avLst/>
          </a:prstGeom>
          <a:solidFill>
            <a:srgbClr val="F59E0B"/>
          </a:solidFill>
          <a:ln cap="flat" cmpd="sng" w="9525">
            <a:solidFill>
              <a:srgbClr val="F59E0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6"/>
          <p:cNvSpPr txBox="1"/>
          <p:nvPr/>
        </p:nvSpPr>
        <p:spPr>
          <a:xfrm>
            <a:off x="6766560" y="2350008"/>
            <a:ext cx="22860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11827"/>
                </a:solidFill>
                <a:latin typeface="Arial"/>
                <a:ea typeface="Arial"/>
                <a:cs typeface="Arial"/>
                <a:sym typeface="Arial"/>
              </a:rPr>
              <a:t>AV</a:t>
            </a:r>
            <a:endParaRPr b="0" i="0" sz="1400" u="none" cap="none" strike="noStrike">
              <a:solidFill>
                <a:srgbClr val="000000"/>
              </a:solidFill>
              <a:latin typeface="Arial"/>
              <a:ea typeface="Arial"/>
              <a:cs typeface="Arial"/>
              <a:sym typeface="Arial"/>
            </a:endParaRPr>
          </a:p>
        </p:txBody>
      </p:sp>
      <p:sp>
        <p:nvSpPr>
          <p:cNvPr id="88" name="Google Shape;88;p6"/>
          <p:cNvSpPr txBox="1"/>
          <p:nvPr/>
        </p:nvSpPr>
        <p:spPr>
          <a:xfrm>
            <a:off x="6432650" y="2743200"/>
            <a:ext cx="5625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64748B"/>
                </a:solidFill>
                <a:latin typeface="Arial"/>
                <a:ea typeface="Arial"/>
                <a:cs typeface="Arial"/>
                <a:sym typeface="Arial"/>
              </a:rPr>
              <a:t>real-time decisions</a:t>
            </a:r>
            <a:endParaRPr b="0" i="0" sz="1400" u="none" cap="none" strike="noStrike">
              <a:solidFill>
                <a:srgbClr val="000000"/>
              </a:solidFill>
              <a:latin typeface="Arial"/>
              <a:ea typeface="Arial"/>
              <a:cs typeface="Arial"/>
              <a:sym typeface="Arial"/>
            </a:endParaRPr>
          </a:p>
        </p:txBody>
      </p:sp>
      <p:cxnSp>
        <p:nvCxnSpPr>
          <p:cNvPr id="89" name="Google Shape;89;p6"/>
          <p:cNvCxnSpPr/>
          <p:nvPr/>
        </p:nvCxnSpPr>
        <p:spPr>
          <a:xfrm>
            <a:off x="2359152" y="2743200"/>
            <a:ext cx="274320" cy="0"/>
          </a:xfrm>
          <a:prstGeom prst="straightConnector1">
            <a:avLst/>
          </a:prstGeom>
          <a:noFill/>
          <a:ln cap="flat" cmpd="sng" w="25400">
            <a:solidFill>
              <a:srgbClr val="76B900"/>
            </a:solidFill>
            <a:prstDash val="solid"/>
            <a:round/>
            <a:headEnd len="sm" w="sm" type="none"/>
            <a:tailEnd len="sm" w="sm" type="none"/>
          </a:ln>
          <a:effectLst>
            <a:outerShdw blurRad="40000" rotWithShape="0" dir="5400000" dist="20000">
              <a:srgbClr val="000000">
                <a:alpha val="38039"/>
              </a:srgbClr>
            </a:outerShdw>
          </a:effectLst>
        </p:spPr>
      </p:cxnSp>
      <p:cxnSp>
        <p:nvCxnSpPr>
          <p:cNvPr id="90" name="Google Shape;90;p6"/>
          <p:cNvCxnSpPr/>
          <p:nvPr/>
        </p:nvCxnSpPr>
        <p:spPr>
          <a:xfrm>
            <a:off x="4187952" y="2743200"/>
            <a:ext cx="274320" cy="0"/>
          </a:xfrm>
          <a:prstGeom prst="straightConnector1">
            <a:avLst/>
          </a:prstGeom>
          <a:noFill/>
          <a:ln cap="flat" cmpd="sng" w="25400">
            <a:solidFill>
              <a:srgbClr val="76B900"/>
            </a:solidFill>
            <a:prstDash val="solid"/>
            <a:round/>
            <a:headEnd len="sm" w="sm" type="none"/>
            <a:tailEnd len="sm" w="sm" type="none"/>
          </a:ln>
          <a:effectLst>
            <a:outerShdw blurRad="40000" rotWithShape="0" dir="5400000" dist="20000">
              <a:srgbClr val="000000">
                <a:alpha val="38039"/>
              </a:srgbClr>
            </a:outerShdw>
          </a:effectLst>
        </p:spPr>
      </p:cxnSp>
      <p:cxnSp>
        <p:nvCxnSpPr>
          <p:cNvPr id="91" name="Google Shape;91;p6"/>
          <p:cNvCxnSpPr/>
          <p:nvPr/>
        </p:nvCxnSpPr>
        <p:spPr>
          <a:xfrm>
            <a:off x="6016752" y="2743200"/>
            <a:ext cx="274320" cy="0"/>
          </a:xfrm>
          <a:prstGeom prst="straightConnector1">
            <a:avLst/>
          </a:prstGeom>
          <a:noFill/>
          <a:ln cap="flat" cmpd="sng" w="25400">
            <a:solidFill>
              <a:srgbClr val="76B900"/>
            </a:solidFill>
            <a:prstDash val="solid"/>
            <a:round/>
            <a:headEnd len="sm" w="sm" type="none"/>
            <a:tailEnd len="sm" w="sm" type="none"/>
          </a:ln>
          <a:effectLst>
            <a:outerShdw blurRad="40000" rotWithShape="0" dir="5400000" dist="20000">
              <a:srgbClr val="000000">
                <a:alpha val="38039"/>
              </a:srgbClr>
            </a:outerShdw>
          </a:effectLst>
        </p:spPr>
      </p:cxnSp>
      <p:sp>
        <p:nvSpPr>
          <p:cNvPr id="92" name="Google Shape;92;p6"/>
          <p:cNvSpPr/>
          <p:nvPr/>
        </p:nvSpPr>
        <p:spPr>
          <a:xfrm>
            <a:off x="868680" y="3794760"/>
            <a:ext cx="2971800" cy="1188720"/>
          </a:xfrm>
          <a:prstGeom prst="roundRect">
            <a:avLst>
              <a:gd fmla="val 16667" name="adj"/>
            </a:avLst>
          </a:prstGeom>
          <a:solidFill>
            <a:srgbClr val="F0FDF4"/>
          </a:solidFill>
          <a:ln cap="flat" cmpd="sng" w="12700">
            <a:solidFill>
              <a:srgbClr val="76B90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6"/>
          <p:cNvSpPr txBox="1"/>
          <p:nvPr/>
        </p:nvSpPr>
        <p:spPr>
          <a:xfrm>
            <a:off x="1097280" y="3995928"/>
            <a:ext cx="256032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11827"/>
                </a:solidFill>
                <a:latin typeface="Arial"/>
                <a:ea typeface="Arial"/>
                <a:cs typeface="Arial"/>
                <a:sym typeface="Arial"/>
              </a:rPr>
              <a:t>Dataset side</a:t>
            </a:r>
            <a:endParaRPr b="0" i="0" sz="1400" u="none" cap="none" strike="noStrike">
              <a:solidFill>
                <a:srgbClr val="000000"/>
              </a:solidFill>
              <a:latin typeface="Arial"/>
              <a:ea typeface="Arial"/>
              <a:cs typeface="Arial"/>
              <a:sym typeface="Arial"/>
            </a:endParaRPr>
          </a:p>
        </p:txBody>
      </p:sp>
      <p:sp>
        <p:nvSpPr>
          <p:cNvPr id="94" name="Google Shape;94;p6"/>
          <p:cNvSpPr txBox="1"/>
          <p:nvPr/>
        </p:nvSpPr>
        <p:spPr>
          <a:xfrm>
            <a:off x="1097280" y="4343400"/>
            <a:ext cx="260604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4748B"/>
                </a:solidFill>
                <a:latin typeface="Arial"/>
                <a:ea typeface="Arial"/>
                <a:cs typeface="Arial"/>
                <a:sym typeface="Arial"/>
              </a:rPr>
              <a:t>doPlan helps teach what a passenger means over time.</a:t>
            </a:r>
            <a:endParaRPr b="0" i="0" sz="1400" u="none" cap="none" strike="noStrike">
              <a:solidFill>
                <a:srgbClr val="000000"/>
              </a:solidFill>
              <a:latin typeface="Arial"/>
              <a:ea typeface="Arial"/>
              <a:cs typeface="Arial"/>
              <a:sym typeface="Arial"/>
            </a:endParaRPr>
          </a:p>
        </p:txBody>
      </p:sp>
      <p:sp>
        <p:nvSpPr>
          <p:cNvPr id="95" name="Google Shape;95;p6"/>
          <p:cNvSpPr/>
          <p:nvPr/>
        </p:nvSpPr>
        <p:spPr>
          <a:xfrm>
            <a:off x="4069080" y="3794760"/>
            <a:ext cx="2971800" cy="1188720"/>
          </a:xfrm>
          <a:prstGeom prst="roundRect">
            <a:avLst>
              <a:gd fmla="val 16667" name="adj"/>
            </a:avLst>
          </a:prstGeom>
          <a:solidFill>
            <a:srgbClr val="EFF6FF"/>
          </a:solidFill>
          <a:ln cap="flat" cmpd="sng" w="12700">
            <a:solidFill>
              <a:srgbClr val="2563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6"/>
          <p:cNvSpPr txBox="1"/>
          <p:nvPr/>
        </p:nvSpPr>
        <p:spPr>
          <a:xfrm>
            <a:off x="4297680" y="3995928"/>
            <a:ext cx="256032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11827"/>
                </a:solidFill>
                <a:latin typeface="Arial"/>
                <a:ea typeface="Arial"/>
                <a:cs typeface="Arial"/>
                <a:sym typeface="Arial"/>
              </a:rPr>
              <a:t>Hardware side</a:t>
            </a:r>
            <a:endParaRPr b="0" i="0" sz="1400" u="none" cap="none" strike="noStrike">
              <a:solidFill>
                <a:srgbClr val="000000"/>
              </a:solidFill>
              <a:latin typeface="Arial"/>
              <a:ea typeface="Arial"/>
              <a:cs typeface="Arial"/>
              <a:sym typeface="Arial"/>
            </a:endParaRPr>
          </a:p>
        </p:txBody>
      </p:sp>
      <p:sp>
        <p:nvSpPr>
          <p:cNvPr id="97" name="Google Shape;97;p6"/>
          <p:cNvSpPr txBox="1"/>
          <p:nvPr/>
        </p:nvSpPr>
        <p:spPr>
          <a:xfrm>
            <a:off x="4297680" y="4343400"/>
            <a:ext cx="26061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4748B"/>
                </a:solidFill>
                <a:latin typeface="Arial"/>
                <a:ea typeface="Arial"/>
                <a:cs typeface="Arial"/>
                <a:sym typeface="Arial"/>
              </a:rPr>
              <a:t>Platforms like DRIVE AGX Thor </a:t>
            </a:r>
            <a:r>
              <a:rPr lang="en-US" sz="1000">
                <a:solidFill>
                  <a:srgbClr val="64748B"/>
                </a:solidFill>
              </a:rPr>
              <a:t>are designed </a:t>
            </a:r>
            <a:r>
              <a:rPr b="0" i="0" lang="en-US" sz="1000" u="none" cap="none" strike="noStrike">
                <a:solidFill>
                  <a:srgbClr val="64748B"/>
                </a:solidFill>
                <a:latin typeface="Arial"/>
                <a:ea typeface="Arial"/>
                <a:cs typeface="Arial"/>
                <a:sym typeface="Arial"/>
              </a:rPr>
              <a:t>run advanced AI in </a:t>
            </a:r>
            <a:r>
              <a:rPr lang="en-US" sz="1000">
                <a:solidFill>
                  <a:srgbClr val="64748B"/>
                </a:solidFill>
              </a:rPr>
              <a:t>vehicles.</a:t>
            </a:r>
            <a:endParaRPr b="0" i="0" sz="1400" u="none" cap="none" strike="noStrike">
              <a:solidFill>
                <a:srgbClr val="000000"/>
              </a:solidFill>
              <a:latin typeface="Arial"/>
              <a:ea typeface="Arial"/>
              <a:cs typeface="Arial"/>
              <a:sym typeface="Arial"/>
            </a:endParaRPr>
          </a:p>
        </p:txBody>
      </p:sp>
      <p:sp>
        <p:nvSpPr>
          <p:cNvPr id="98" name="Google Shape;98;p6"/>
          <p:cNvSpPr/>
          <p:nvPr/>
        </p:nvSpPr>
        <p:spPr>
          <a:xfrm>
            <a:off x="7726679" y="1298448"/>
            <a:ext cx="3611880" cy="4553712"/>
          </a:xfrm>
          <a:prstGeom prst="roundRect">
            <a:avLst>
              <a:gd fmla="val 16667" name="adj"/>
            </a:avLst>
          </a:prstGeom>
          <a:solidFill>
            <a:srgbClr val="FFFFFF"/>
          </a:solidFill>
          <a:ln cap="flat" cmpd="sng" w="1270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6"/>
          <p:cNvSpPr/>
          <p:nvPr/>
        </p:nvSpPr>
        <p:spPr>
          <a:xfrm>
            <a:off x="7955279" y="3977639"/>
            <a:ext cx="3154680" cy="1389888"/>
          </a:xfrm>
          <a:prstGeom prst="roundRect">
            <a:avLst>
              <a:gd fmla="val 16667" name="adj"/>
            </a:avLst>
          </a:prstGeom>
          <a:solidFill>
            <a:srgbClr val="0F172A"/>
          </a:solidFill>
          <a:ln cap="flat" cmpd="sng" w="9525">
            <a:solidFill>
              <a:srgbClr val="0F172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6"/>
          <p:cNvSpPr txBox="1"/>
          <p:nvPr/>
        </p:nvSpPr>
        <p:spPr>
          <a:xfrm>
            <a:off x="8183879" y="4187952"/>
            <a:ext cx="274320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Engineering connection</a:t>
            </a:r>
            <a:endParaRPr b="0" i="0" sz="1400" u="none" cap="none" strike="noStrike">
              <a:solidFill>
                <a:srgbClr val="000000"/>
              </a:solidFill>
              <a:latin typeface="Arial"/>
              <a:ea typeface="Arial"/>
              <a:cs typeface="Arial"/>
              <a:sym typeface="Arial"/>
            </a:endParaRPr>
          </a:p>
        </p:txBody>
      </p:sp>
      <p:sp>
        <p:nvSpPr>
          <p:cNvPr id="101" name="Google Shape;101;p6"/>
          <p:cNvSpPr txBox="1"/>
          <p:nvPr/>
        </p:nvSpPr>
        <p:spPr>
          <a:xfrm>
            <a:off x="8183879" y="4507992"/>
            <a:ext cx="2743200" cy="502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CBD5E1"/>
                </a:solidFill>
                <a:latin typeface="Arial"/>
                <a:ea typeface="Arial"/>
                <a:cs typeface="Arial"/>
                <a:sym typeface="Arial"/>
              </a:rPr>
              <a:t>The dataset only matters if future models can run on real vehicle hardware.</a:t>
            </a:r>
            <a:endParaRPr b="0" i="0" sz="1400" u="none" cap="none" strike="noStrike">
              <a:solidFill>
                <a:srgbClr val="000000"/>
              </a:solidFill>
              <a:latin typeface="Arial"/>
              <a:ea typeface="Arial"/>
              <a:cs typeface="Arial"/>
              <a:sym typeface="Arial"/>
            </a:endParaRPr>
          </a:p>
        </p:txBody>
      </p:sp>
      <p:sp>
        <p:nvSpPr>
          <p:cNvPr id="102" name="Google Shape;102;p6"/>
          <p:cNvSpPr txBox="1"/>
          <p:nvPr/>
        </p:nvSpPr>
        <p:spPr>
          <a:xfrm>
            <a:off x="11109960" y="6428232"/>
            <a:ext cx="457200" cy="18288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700"/>
              <a:buFont typeface="Arial"/>
              <a:buNone/>
            </a:pPr>
            <a:r>
              <a:rPr b="0" i="0" lang="en-US" sz="700" u="none" cap="none" strike="noStrike">
                <a:solidFill>
                  <a:srgbClr val="64748B"/>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pic>
        <p:nvPicPr>
          <p:cNvPr id="103" name="Google Shape;103;p6"/>
          <p:cNvPicPr preferRelativeResize="0"/>
          <p:nvPr/>
        </p:nvPicPr>
        <p:blipFill>
          <a:blip r:embed="rId3">
            <a:alphaModFix/>
          </a:blip>
          <a:stretch>
            <a:fillRect/>
          </a:stretch>
        </p:blipFill>
        <p:spPr>
          <a:xfrm>
            <a:off x="7909550" y="1664201"/>
            <a:ext cx="3154675" cy="21031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7"/>
          <p:cNvSpPr/>
          <p:nvPr/>
        </p:nvSpPr>
        <p:spPr>
          <a:xfrm>
            <a:off x="566928" y="320040"/>
            <a:ext cx="27432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6B900"/>
              </a:buClr>
              <a:buSzPts val="1000"/>
              <a:buFont typeface="Arial"/>
              <a:buNone/>
            </a:pPr>
            <a:r>
              <a:rPr b="1" i="0" lang="en-US" sz="1000" u="none" cap="none" strike="noStrike">
                <a:solidFill>
                  <a:srgbClr val="76B900"/>
                </a:solidFill>
                <a:latin typeface="Arial"/>
                <a:ea typeface="Arial"/>
                <a:cs typeface="Arial"/>
                <a:sym typeface="Arial"/>
              </a:rPr>
              <a:t>DATASET LANDSCAPE</a:t>
            </a:r>
            <a:endParaRPr b="0" i="0" sz="1000" u="none" cap="none" strike="noStrike">
              <a:solidFill>
                <a:schemeClr val="dk1"/>
              </a:solidFill>
              <a:latin typeface="Arial"/>
              <a:ea typeface="Arial"/>
              <a:cs typeface="Arial"/>
              <a:sym typeface="Arial"/>
            </a:endParaRPr>
          </a:p>
        </p:txBody>
      </p:sp>
      <p:sp>
        <p:nvSpPr>
          <p:cNvPr id="110" name="Google Shape;110;p7"/>
          <p:cNvSpPr/>
          <p:nvPr/>
        </p:nvSpPr>
        <p:spPr>
          <a:xfrm>
            <a:off x="566928" y="594360"/>
            <a:ext cx="77724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3000"/>
              <a:buFont typeface="Arial"/>
              <a:buNone/>
            </a:pPr>
            <a:r>
              <a:rPr b="1" i="0" lang="en-US" sz="3000" u="none" cap="none" strike="noStrike">
                <a:solidFill>
                  <a:srgbClr val="111827"/>
                </a:solidFill>
                <a:latin typeface="Arial"/>
                <a:ea typeface="Arial"/>
                <a:cs typeface="Arial"/>
                <a:sym typeface="Arial"/>
              </a:rPr>
              <a:t>Where doPlan fits</a:t>
            </a:r>
            <a:endParaRPr b="0" i="0" sz="3000" u="none" cap="none" strike="noStrike">
              <a:solidFill>
                <a:schemeClr val="dk1"/>
              </a:solidFill>
              <a:latin typeface="Arial"/>
              <a:ea typeface="Arial"/>
              <a:cs typeface="Arial"/>
              <a:sym typeface="Arial"/>
            </a:endParaRPr>
          </a:p>
        </p:txBody>
      </p:sp>
      <p:sp>
        <p:nvSpPr>
          <p:cNvPr id="111" name="Google Shape;111;p7"/>
          <p:cNvSpPr/>
          <p:nvPr/>
        </p:nvSpPr>
        <p:spPr>
          <a:xfrm>
            <a:off x="566928" y="1170432"/>
            <a:ext cx="914400" cy="54864"/>
          </a:xfrm>
          <a:prstGeom prst="rect">
            <a:avLst/>
          </a:prstGeom>
          <a:solidFill>
            <a:srgbClr val="76B900"/>
          </a:solidFill>
          <a:ln cap="flat" cmpd="sng" w="12700">
            <a:solidFill>
              <a:srgbClr val="76B9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7"/>
          <p:cNvSpPr/>
          <p:nvPr/>
        </p:nvSpPr>
        <p:spPr>
          <a:xfrm>
            <a:off x="731520" y="1508760"/>
            <a:ext cx="10698480" cy="4480560"/>
          </a:xfrm>
          <a:prstGeom prst="roundRect">
            <a:avLst>
              <a:gd fmla="val 3061"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7"/>
          <p:cNvSpPr/>
          <p:nvPr/>
        </p:nvSpPr>
        <p:spPr>
          <a:xfrm>
            <a:off x="1051560" y="1828800"/>
            <a:ext cx="13716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350"/>
              <a:buFont typeface="Arial"/>
              <a:buNone/>
            </a:pPr>
            <a:r>
              <a:rPr b="1" i="0" lang="en-US" sz="1350" u="none" cap="none" strike="noStrike">
                <a:solidFill>
                  <a:srgbClr val="111827"/>
                </a:solidFill>
                <a:latin typeface="Arial"/>
                <a:ea typeface="Arial"/>
                <a:cs typeface="Arial"/>
                <a:sym typeface="Arial"/>
              </a:rPr>
              <a:t>KITTI</a:t>
            </a:r>
            <a:endParaRPr b="0" i="0" sz="1350" u="none" cap="none" strike="noStrike">
              <a:solidFill>
                <a:schemeClr val="dk1"/>
              </a:solidFill>
              <a:latin typeface="Arial"/>
              <a:ea typeface="Arial"/>
              <a:cs typeface="Arial"/>
              <a:sym typeface="Arial"/>
            </a:endParaRPr>
          </a:p>
        </p:txBody>
      </p:sp>
      <p:sp>
        <p:nvSpPr>
          <p:cNvPr id="114" name="Google Shape;114;p7"/>
          <p:cNvSpPr/>
          <p:nvPr/>
        </p:nvSpPr>
        <p:spPr>
          <a:xfrm>
            <a:off x="2834640" y="1828800"/>
            <a:ext cx="25603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350"/>
              <a:buFont typeface="Arial"/>
              <a:buNone/>
            </a:pPr>
            <a:r>
              <a:rPr b="0" i="0" lang="en-US" sz="1350" u="none" cap="none" strike="noStrike">
                <a:solidFill>
                  <a:srgbClr val="111827"/>
                </a:solidFill>
                <a:latin typeface="Arial"/>
                <a:ea typeface="Arial"/>
                <a:cs typeface="Arial"/>
                <a:sym typeface="Arial"/>
              </a:rPr>
              <a:t>Perception</a:t>
            </a:r>
            <a:endParaRPr b="0" i="0" sz="1350" u="none" cap="none" strike="noStrike">
              <a:solidFill>
                <a:schemeClr val="dk1"/>
              </a:solidFill>
              <a:latin typeface="Arial"/>
              <a:ea typeface="Arial"/>
              <a:cs typeface="Arial"/>
              <a:sym typeface="Arial"/>
            </a:endParaRPr>
          </a:p>
        </p:txBody>
      </p:sp>
      <p:sp>
        <p:nvSpPr>
          <p:cNvPr id="115" name="Google Shape;115;p7"/>
          <p:cNvSpPr/>
          <p:nvPr/>
        </p:nvSpPr>
        <p:spPr>
          <a:xfrm>
            <a:off x="5760720" y="1828800"/>
            <a:ext cx="5029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320"/>
              <a:buFont typeface="Arial"/>
              <a:buNone/>
            </a:pPr>
            <a:r>
              <a:rPr b="0" i="0" lang="en-US" sz="1320" u="none" cap="none" strike="noStrike">
                <a:solidFill>
                  <a:srgbClr val="6B7280"/>
                </a:solidFill>
                <a:latin typeface="Arial"/>
                <a:ea typeface="Arial"/>
                <a:cs typeface="Arial"/>
                <a:sym typeface="Arial"/>
              </a:rPr>
              <a:t>object detection, depth</a:t>
            </a:r>
            <a:endParaRPr b="0" i="0" sz="1320" u="none" cap="none" strike="noStrike">
              <a:solidFill>
                <a:schemeClr val="dk1"/>
              </a:solidFill>
              <a:latin typeface="Arial"/>
              <a:ea typeface="Arial"/>
              <a:cs typeface="Arial"/>
              <a:sym typeface="Arial"/>
            </a:endParaRPr>
          </a:p>
        </p:txBody>
      </p:sp>
      <p:sp>
        <p:nvSpPr>
          <p:cNvPr id="116" name="Google Shape;116;p7"/>
          <p:cNvSpPr/>
          <p:nvPr/>
        </p:nvSpPr>
        <p:spPr>
          <a:xfrm>
            <a:off x="1051560" y="2487168"/>
            <a:ext cx="13716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350"/>
              <a:buFont typeface="Arial"/>
              <a:buNone/>
            </a:pPr>
            <a:r>
              <a:rPr b="1" i="0" lang="en-US" sz="1350" u="none" cap="none" strike="noStrike">
                <a:solidFill>
                  <a:srgbClr val="111827"/>
                </a:solidFill>
                <a:latin typeface="Arial"/>
                <a:ea typeface="Arial"/>
                <a:cs typeface="Arial"/>
                <a:sym typeface="Arial"/>
              </a:rPr>
              <a:t>nuScenes</a:t>
            </a:r>
            <a:endParaRPr b="0" i="0" sz="1350" u="none" cap="none" strike="noStrike">
              <a:solidFill>
                <a:schemeClr val="dk1"/>
              </a:solidFill>
              <a:latin typeface="Arial"/>
              <a:ea typeface="Arial"/>
              <a:cs typeface="Arial"/>
              <a:sym typeface="Arial"/>
            </a:endParaRPr>
          </a:p>
        </p:txBody>
      </p:sp>
      <p:sp>
        <p:nvSpPr>
          <p:cNvPr id="117" name="Google Shape;117;p7"/>
          <p:cNvSpPr/>
          <p:nvPr/>
        </p:nvSpPr>
        <p:spPr>
          <a:xfrm>
            <a:off x="2834640" y="2487168"/>
            <a:ext cx="25603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350"/>
              <a:buFont typeface="Arial"/>
              <a:buNone/>
            </a:pPr>
            <a:r>
              <a:rPr b="0" i="0" lang="en-US" sz="1350" u="none" cap="none" strike="noStrike">
                <a:solidFill>
                  <a:srgbClr val="111827"/>
                </a:solidFill>
                <a:latin typeface="Arial"/>
                <a:ea typeface="Arial"/>
                <a:cs typeface="Arial"/>
                <a:sym typeface="Arial"/>
              </a:rPr>
              <a:t>Scene understanding</a:t>
            </a:r>
            <a:endParaRPr b="0" i="0" sz="1350" u="none" cap="none" strike="noStrike">
              <a:solidFill>
                <a:schemeClr val="dk1"/>
              </a:solidFill>
              <a:latin typeface="Arial"/>
              <a:ea typeface="Arial"/>
              <a:cs typeface="Arial"/>
              <a:sym typeface="Arial"/>
            </a:endParaRPr>
          </a:p>
        </p:txBody>
      </p:sp>
      <p:sp>
        <p:nvSpPr>
          <p:cNvPr id="118" name="Google Shape;118;p7"/>
          <p:cNvSpPr/>
          <p:nvPr/>
        </p:nvSpPr>
        <p:spPr>
          <a:xfrm>
            <a:off x="5760720" y="2487168"/>
            <a:ext cx="5029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320"/>
              <a:buFont typeface="Arial"/>
              <a:buNone/>
            </a:pPr>
            <a:r>
              <a:rPr b="0" i="0" lang="en-US" sz="1320" u="none" cap="none" strike="noStrike">
                <a:solidFill>
                  <a:srgbClr val="6B7280"/>
                </a:solidFill>
                <a:latin typeface="Arial"/>
                <a:ea typeface="Arial"/>
                <a:cs typeface="Arial"/>
                <a:sym typeface="Arial"/>
              </a:rPr>
              <a:t>multi-sensor urban data</a:t>
            </a:r>
            <a:endParaRPr b="0" i="0" sz="1320" u="none" cap="none" strike="noStrike">
              <a:solidFill>
                <a:schemeClr val="dk1"/>
              </a:solidFill>
              <a:latin typeface="Arial"/>
              <a:ea typeface="Arial"/>
              <a:cs typeface="Arial"/>
              <a:sym typeface="Arial"/>
            </a:endParaRPr>
          </a:p>
        </p:txBody>
      </p:sp>
      <p:sp>
        <p:nvSpPr>
          <p:cNvPr id="119" name="Google Shape;119;p7"/>
          <p:cNvSpPr/>
          <p:nvPr/>
        </p:nvSpPr>
        <p:spPr>
          <a:xfrm>
            <a:off x="1051560" y="3145536"/>
            <a:ext cx="13716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350"/>
              <a:buFont typeface="Arial"/>
              <a:buNone/>
            </a:pPr>
            <a:r>
              <a:rPr b="1" i="0" lang="en-US" sz="1350" u="none" cap="none" strike="noStrike">
                <a:solidFill>
                  <a:srgbClr val="111827"/>
                </a:solidFill>
                <a:latin typeface="Arial"/>
                <a:ea typeface="Arial"/>
                <a:cs typeface="Arial"/>
                <a:sym typeface="Arial"/>
              </a:rPr>
              <a:t>Waymo</a:t>
            </a:r>
            <a:endParaRPr b="0" i="0" sz="1350" u="none" cap="none" strike="noStrike">
              <a:solidFill>
                <a:schemeClr val="dk1"/>
              </a:solidFill>
              <a:latin typeface="Arial"/>
              <a:ea typeface="Arial"/>
              <a:cs typeface="Arial"/>
              <a:sym typeface="Arial"/>
            </a:endParaRPr>
          </a:p>
        </p:txBody>
      </p:sp>
      <p:sp>
        <p:nvSpPr>
          <p:cNvPr id="120" name="Google Shape;120;p7"/>
          <p:cNvSpPr/>
          <p:nvPr/>
        </p:nvSpPr>
        <p:spPr>
          <a:xfrm>
            <a:off x="2834640" y="3145536"/>
            <a:ext cx="25603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350"/>
              <a:buFont typeface="Arial"/>
              <a:buNone/>
            </a:pPr>
            <a:r>
              <a:rPr b="0" i="0" lang="en-US" sz="1350" u="none" cap="none" strike="noStrike">
                <a:solidFill>
                  <a:srgbClr val="111827"/>
                </a:solidFill>
                <a:latin typeface="Arial"/>
                <a:ea typeface="Arial"/>
                <a:cs typeface="Arial"/>
                <a:sym typeface="Arial"/>
              </a:rPr>
              <a:t>Prediction</a:t>
            </a:r>
            <a:endParaRPr b="0" i="0" sz="1350" u="none" cap="none" strike="noStrike">
              <a:solidFill>
                <a:schemeClr val="dk1"/>
              </a:solidFill>
              <a:latin typeface="Arial"/>
              <a:ea typeface="Arial"/>
              <a:cs typeface="Arial"/>
              <a:sym typeface="Arial"/>
            </a:endParaRPr>
          </a:p>
        </p:txBody>
      </p:sp>
      <p:sp>
        <p:nvSpPr>
          <p:cNvPr id="121" name="Google Shape;121;p7"/>
          <p:cNvSpPr/>
          <p:nvPr/>
        </p:nvSpPr>
        <p:spPr>
          <a:xfrm>
            <a:off x="5760720" y="3145536"/>
            <a:ext cx="5029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320"/>
              <a:buFont typeface="Arial"/>
              <a:buNone/>
            </a:pPr>
            <a:r>
              <a:rPr b="0" i="0" lang="en-US" sz="1320" u="none" cap="none" strike="noStrike">
                <a:solidFill>
                  <a:srgbClr val="6B7280"/>
                </a:solidFill>
                <a:latin typeface="Arial"/>
                <a:ea typeface="Arial"/>
                <a:cs typeface="Arial"/>
                <a:sym typeface="Arial"/>
              </a:rPr>
              <a:t>large-scale motion data</a:t>
            </a:r>
            <a:endParaRPr b="0" i="0" sz="1320" u="none" cap="none" strike="noStrike">
              <a:solidFill>
                <a:schemeClr val="dk1"/>
              </a:solidFill>
              <a:latin typeface="Arial"/>
              <a:ea typeface="Arial"/>
              <a:cs typeface="Arial"/>
              <a:sym typeface="Arial"/>
            </a:endParaRPr>
          </a:p>
        </p:txBody>
      </p:sp>
      <p:sp>
        <p:nvSpPr>
          <p:cNvPr id="122" name="Google Shape;122;p7"/>
          <p:cNvSpPr/>
          <p:nvPr/>
        </p:nvSpPr>
        <p:spPr>
          <a:xfrm>
            <a:off x="1051560" y="3803904"/>
            <a:ext cx="13716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350"/>
              <a:buFont typeface="Arial"/>
              <a:buNone/>
            </a:pPr>
            <a:r>
              <a:rPr b="1" i="0" lang="en-US" sz="1350" u="none" cap="none" strike="noStrike">
                <a:solidFill>
                  <a:srgbClr val="111827"/>
                </a:solidFill>
                <a:latin typeface="Arial"/>
                <a:ea typeface="Arial"/>
                <a:cs typeface="Arial"/>
                <a:sym typeface="Arial"/>
              </a:rPr>
              <a:t>nuPlan</a:t>
            </a:r>
            <a:endParaRPr b="0" i="0" sz="1350" u="none" cap="none" strike="noStrike">
              <a:solidFill>
                <a:schemeClr val="dk1"/>
              </a:solidFill>
              <a:latin typeface="Arial"/>
              <a:ea typeface="Arial"/>
              <a:cs typeface="Arial"/>
              <a:sym typeface="Arial"/>
            </a:endParaRPr>
          </a:p>
        </p:txBody>
      </p:sp>
      <p:sp>
        <p:nvSpPr>
          <p:cNvPr id="123" name="Google Shape;123;p7"/>
          <p:cNvSpPr/>
          <p:nvPr/>
        </p:nvSpPr>
        <p:spPr>
          <a:xfrm>
            <a:off x="2834640" y="3803904"/>
            <a:ext cx="25603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350"/>
              <a:buFont typeface="Arial"/>
              <a:buNone/>
            </a:pPr>
            <a:r>
              <a:rPr b="0" i="0" lang="en-US" sz="1350" u="none" cap="none" strike="noStrike">
                <a:solidFill>
                  <a:srgbClr val="111827"/>
                </a:solidFill>
                <a:latin typeface="Arial"/>
                <a:ea typeface="Arial"/>
                <a:cs typeface="Arial"/>
                <a:sym typeface="Arial"/>
              </a:rPr>
              <a:t>Planning</a:t>
            </a:r>
            <a:endParaRPr b="0" i="0" sz="1350" u="none" cap="none" strike="noStrike">
              <a:solidFill>
                <a:schemeClr val="dk1"/>
              </a:solidFill>
              <a:latin typeface="Arial"/>
              <a:ea typeface="Arial"/>
              <a:cs typeface="Arial"/>
              <a:sym typeface="Arial"/>
            </a:endParaRPr>
          </a:p>
        </p:txBody>
      </p:sp>
      <p:sp>
        <p:nvSpPr>
          <p:cNvPr id="124" name="Google Shape;124;p7"/>
          <p:cNvSpPr/>
          <p:nvPr/>
        </p:nvSpPr>
        <p:spPr>
          <a:xfrm>
            <a:off x="5760720" y="3803904"/>
            <a:ext cx="5029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320"/>
              <a:buFont typeface="Arial"/>
              <a:buNone/>
            </a:pPr>
            <a:r>
              <a:rPr b="0" i="0" lang="en-US" sz="1320" u="none" cap="none" strike="noStrike">
                <a:solidFill>
                  <a:srgbClr val="6B7280"/>
                </a:solidFill>
                <a:latin typeface="Arial"/>
                <a:ea typeface="Arial"/>
                <a:cs typeface="Arial"/>
                <a:sym typeface="Arial"/>
              </a:rPr>
              <a:t>long-horizon trajectories</a:t>
            </a:r>
            <a:endParaRPr b="0" i="0" sz="1320" u="none" cap="none" strike="noStrike">
              <a:solidFill>
                <a:schemeClr val="dk1"/>
              </a:solidFill>
              <a:latin typeface="Arial"/>
              <a:ea typeface="Arial"/>
              <a:cs typeface="Arial"/>
              <a:sym typeface="Arial"/>
            </a:endParaRPr>
          </a:p>
        </p:txBody>
      </p:sp>
      <p:sp>
        <p:nvSpPr>
          <p:cNvPr id="125" name="Google Shape;125;p7"/>
          <p:cNvSpPr/>
          <p:nvPr/>
        </p:nvSpPr>
        <p:spPr>
          <a:xfrm>
            <a:off x="1051560" y="4462272"/>
            <a:ext cx="13716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350"/>
              <a:buFont typeface="Arial"/>
              <a:buNone/>
            </a:pPr>
            <a:r>
              <a:rPr b="1" i="0" lang="en-US" sz="1350" u="none" cap="none" strike="noStrike">
                <a:solidFill>
                  <a:srgbClr val="111827"/>
                </a:solidFill>
                <a:latin typeface="Arial"/>
                <a:ea typeface="Arial"/>
                <a:cs typeface="Arial"/>
                <a:sym typeface="Arial"/>
              </a:rPr>
              <a:t>doScenes</a:t>
            </a:r>
            <a:endParaRPr b="0" i="0" sz="1350" u="none" cap="none" strike="noStrike">
              <a:solidFill>
                <a:schemeClr val="dk1"/>
              </a:solidFill>
              <a:latin typeface="Arial"/>
              <a:ea typeface="Arial"/>
              <a:cs typeface="Arial"/>
              <a:sym typeface="Arial"/>
            </a:endParaRPr>
          </a:p>
        </p:txBody>
      </p:sp>
      <p:sp>
        <p:nvSpPr>
          <p:cNvPr id="126" name="Google Shape;126;p7"/>
          <p:cNvSpPr/>
          <p:nvPr/>
        </p:nvSpPr>
        <p:spPr>
          <a:xfrm>
            <a:off x="2834640" y="4462272"/>
            <a:ext cx="25603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350"/>
              <a:buFont typeface="Arial"/>
              <a:buNone/>
            </a:pPr>
            <a:r>
              <a:rPr b="0" i="0" lang="en-US" sz="1350" u="none" cap="none" strike="noStrike">
                <a:solidFill>
                  <a:srgbClr val="111827"/>
                </a:solidFill>
                <a:latin typeface="Arial"/>
                <a:ea typeface="Arial"/>
                <a:cs typeface="Arial"/>
                <a:sym typeface="Arial"/>
              </a:rPr>
              <a:t>Language + scenes</a:t>
            </a:r>
            <a:endParaRPr b="0" i="0" sz="1350" u="none" cap="none" strike="noStrike">
              <a:solidFill>
                <a:schemeClr val="dk1"/>
              </a:solidFill>
              <a:latin typeface="Arial"/>
              <a:ea typeface="Arial"/>
              <a:cs typeface="Arial"/>
              <a:sym typeface="Arial"/>
            </a:endParaRPr>
          </a:p>
        </p:txBody>
      </p:sp>
      <p:sp>
        <p:nvSpPr>
          <p:cNvPr id="127" name="Google Shape;127;p7"/>
          <p:cNvSpPr/>
          <p:nvPr/>
        </p:nvSpPr>
        <p:spPr>
          <a:xfrm>
            <a:off x="5760720" y="4462272"/>
            <a:ext cx="5029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320"/>
              <a:buFont typeface="Arial"/>
              <a:buNone/>
            </a:pPr>
            <a:r>
              <a:rPr b="0" i="0" lang="en-US" sz="1320" u="none" cap="none" strike="noStrike">
                <a:solidFill>
                  <a:srgbClr val="6B7280"/>
                </a:solidFill>
                <a:latin typeface="Arial"/>
                <a:ea typeface="Arial"/>
                <a:cs typeface="Arial"/>
                <a:sym typeface="Arial"/>
              </a:rPr>
              <a:t>shorter scene instructions</a:t>
            </a:r>
            <a:endParaRPr b="0" i="0" sz="1320" u="none" cap="none" strike="noStrike">
              <a:solidFill>
                <a:schemeClr val="dk1"/>
              </a:solidFill>
              <a:latin typeface="Arial"/>
              <a:ea typeface="Arial"/>
              <a:cs typeface="Arial"/>
              <a:sym typeface="Arial"/>
            </a:endParaRPr>
          </a:p>
        </p:txBody>
      </p:sp>
      <p:sp>
        <p:nvSpPr>
          <p:cNvPr id="128" name="Google Shape;128;p7"/>
          <p:cNvSpPr/>
          <p:nvPr/>
        </p:nvSpPr>
        <p:spPr>
          <a:xfrm>
            <a:off x="841248" y="5038344"/>
            <a:ext cx="10479024" cy="512064"/>
          </a:xfrm>
          <a:prstGeom prst="roundRect">
            <a:avLst>
              <a:gd fmla="val 21429" name="adj"/>
            </a:avLst>
          </a:prstGeom>
          <a:solidFill>
            <a:srgbClr val="ECFDF5"/>
          </a:solidFill>
          <a:ln cap="flat" cmpd="sng" w="15225">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7"/>
          <p:cNvSpPr/>
          <p:nvPr/>
        </p:nvSpPr>
        <p:spPr>
          <a:xfrm>
            <a:off x="1051560" y="5120640"/>
            <a:ext cx="13716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6B900"/>
              </a:buClr>
              <a:buSzPts val="1500"/>
              <a:buFont typeface="Arial"/>
              <a:buNone/>
            </a:pPr>
            <a:r>
              <a:rPr b="1" i="0" lang="en-US" sz="1500" u="none" cap="none" strike="noStrike">
                <a:solidFill>
                  <a:srgbClr val="76B900"/>
                </a:solidFill>
                <a:latin typeface="Arial"/>
                <a:ea typeface="Arial"/>
                <a:cs typeface="Arial"/>
                <a:sym typeface="Arial"/>
              </a:rPr>
              <a:t>doPlan</a:t>
            </a:r>
            <a:endParaRPr b="0" i="0" sz="1500" u="none" cap="none" strike="noStrike">
              <a:solidFill>
                <a:schemeClr val="dk1"/>
              </a:solidFill>
              <a:latin typeface="Arial"/>
              <a:ea typeface="Arial"/>
              <a:cs typeface="Arial"/>
              <a:sym typeface="Arial"/>
            </a:endParaRPr>
          </a:p>
        </p:txBody>
      </p:sp>
      <p:sp>
        <p:nvSpPr>
          <p:cNvPr id="130" name="Google Shape;130;p7"/>
          <p:cNvSpPr/>
          <p:nvPr/>
        </p:nvSpPr>
        <p:spPr>
          <a:xfrm>
            <a:off x="2834640" y="5120640"/>
            <a:ext cx="25603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500"/>
              <a:buFont typeface="Arial"/>
              <a:buNone/>
            </a:pPr>
            <a:r>
              <a:rPr b="1" i="0" lang="en-US" sz="1500" u="none" cap="none" strike="noStrike">
                <a:solidFill>
                  <a:srgbClr val="111827"/>
                </a:solidFill>
                <a:latin typeface="Arial"/>
                <a:ea typeface="Arial"/>
                <a:cs typeface="Arial"/>
                <a:sym typeface="Arial"/>
              </a:rPr>
              <a:t>Passenger instructions</a:t>
            </a:r>
            <a:endParaRPr b="0" i="0" sz="1500" u="none" cap="none" strike="noStrike">
              <a:solidFill>
                <a:schemeClr val="dk1"/>
              </a:solidFill>
              <a:latin typeface="Arial"/>
              <a:ea typeface="Arial"/>
              <a:cs typeface="Arial"/>
              <a:sym typeface="Arial"/>
            </a:endParaRPr>
          </a:p>
        </p:txBody>
      </p:sp>
      <p:sp>
        <p:nvSpPr>
          <p:cNvPr id="131" name="Google Shape;131;p7"/>
          <p:cNvSpPr/>
          <p:nvPr/>
        </p:nvSpPr>
        <p:spPr>
          <a:xfrm>
            <a:off x="5760720" y="5120640"/>
            <a:ext cx="5029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320"/>
              <a:buFont typeface="Arial"/>
              <a:buNone/>
            </a:pPr>
            <a:r>
              <a:rPr b="0" i="0" lang="en-US" sz="1320" u="none" cap="none" strike="noStrike">
                <a:solidFill>
                  <a:srgbClr val="6B7280"/>
                </a:solidFill>
                <a:latin typeface="Arial"/>
                <a:ea typeface="Arial"/>
                <a:cs typeface="Arial"/>
                <a:sym typeface="Arial"/>
              </a:rPr>
              <a:t>long-horizon language-guided planning</a:t>
            </a:r>
            <a:endParaRPr b="0" i="0" sz="1320" u="none" cap="none" strike="noStrike">
              <a:solidFill>
                <a:schemeClr val="dk1"/>
              </a:solidFill>
              <a:latin typeface="Arial"/>
              <a:ea typeface="Arial"/>
              <a:cs typeface="Arial"/>
              <a:sym typeface="Arial"/>
            </a:endParaRPr>
          </a:p>
        </p:txBody>
      </p:sp>
      <p:sp>
        <p:nvSpPr>
          <p:cNvPr id="132" name="Google Shape;132;p7"/>
          <p:cNvSpPr/>
          <p:nvPr/>
        </p:nvSpPr>
        <p:spPr>
          <a:xfrm>
            <a:off x="1051560" y="6080760"/>
            <a:ext cx="10058400" cy="384048"/>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111827"/>
              </a:buClr>
              <a:buSzPts val="1600"/>
              <a:buFont typeface="Arial"/>
              <a:buNone/>
            </a:pPr>
            <a:r>
              <a:rPr b="1" i="0" lang="en-US" sz="1600" u="none" cap="none" strike="noStrike">
                <a:solidFill>
                  <a:srgbClr val="111827"/>
                </a:solidFill>
                <a:latin typeface="Arial"/>
                <a:ea typeface="Arial"/>
                <a:cs typeface="Arial"/>
                <a:sym typeface="Arial"/>
              </a:rPr>
              <a:t>doPlan builds on nuPlan, but adds human-written passenger instructions over variable-length driving segments.</a:t>
            </a:r>
            <a:endParaRPr b="0" i="0" sz="1600" u="none" cap="none" strike="noStrike">
              <a:solidFill>
                <a:schemeClr val="dk1"/>
              </a:solidFill>
              <a:latin typeface="Arial"/>
              <a:ea typeface="Arial"/>
              <a:cs typeface="Arial"/>
              <a:sym typeface="Arial"/>
            </a:endParaRPr>
          </a:p>
        </p:txBody>
      </p:sp>
      <p:sp>
        <p:nvSpPr>
          <p:cNvPr id="133" name="Google Shape;133;p7"/>
          <p:cNvSpPr txBox="1"/>
          <p:nvPr>
            <p:ph idx="4294967295" type="sldNum"/>
          </p:nvPr>
        </p:nvSpPr>
        <p:spPr>
          <a:xfrm>
            <a:off x="11430000" y="6583680"/>
            <a:ext cx="8000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None/>
            </a:pPr>
            <a:fld id="{00000000-1234-1234-1234-123412341234}" type="slidenum">
              <a:rPr b="0" i="0" lang="en-US" sz="1200" u="none" cap="none" strike="noStrike">
                <a:solidFill>
                  <a:srgbClr val="6B7280"/>
                </a:solidFill>
                <a:latin typeface="Arial"/>
                <a:ea typeface="Arial"/>
                <a:cs typeface="Arial"/>
                <a:sym typeface="Arial"/>
              </a:rPr>
              <a:t>‹#›</a:t>
            </a:fld>
            <a:endParaRPr b="0" i="0" sz="1200" u="none" cap="none" strike="noStrike">
              <a:solidFill>
                <a:srgbClr val="6B728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8"/>
          <p:cNvSpPr/>
          <p:nvPr/>
        </p:nvSpPr>
        <p:spPr>
          <a:xfrm>
            <a:off x="566928" y="320040"/>
            <a:ext cx="27432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6B900"/>
              </a:buClr>
              <a:buSzPts val="1000"/>
              <a:buFont typeface="Arial"/>
              <a:buNone/>
            </a:pPr>
            <a:r>
              <a:rPr b="1" i="0" lang="en-US" sz="1000" u="none" cap="none" strike="noStrike">
                <a:solidFill>
                  <a:srgbClr val="76B900"/>
                </a:solidFill>
                <a:latin typeface="Arial"/>
                <a:ea typeface="Arial"/>
                <a:cs typeface="Arial"/>
                <a:sym typeface="Arial"/>
              </a:rPr>
              <a:t>PROJECT OVERVIEW</a:t>
            </a:r>
            <a:endParaRPr b="0" i="0" sz="1000" u="none" cap="none" strike="noStrike">
              <a:solidFill>
                <a:schemeClr val="dk1"/>
              </a:solidFill>
              <a:latin typeface="Arial"/>
              <a:ea typeface="Arial"/>
              <a:cs typeface="Arial"/>
              <a:sym typeface="Arial"/>
            </a:endParaRPr>
          </a:p>
        </p:txBody>
      </p:sp>
      <p:sp>
        <p:nvSpPr>
          <p:cNvPr id="140" name="Google Shape;140;p8"/>
          <p:cNvSpPr/>
          <p:nvPr/>
        </p:nvSpPr>
        <p:spPr>
          <a:xfrm>
            <a:off x="566928" y="594360"/>
            <a:ext cx="77724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3000"/>
              <a:buFont typeface="Arial"/>
              <a:buNone/>
            </a:pPr>
            <a:r>
              <a:rPr b="1" i="0" lang="en-US" sz="3000" u="none" cap="none" strike="noStrike">
                <a:solidFill>
                  <a:srgbClr val="111827"/>
                </a:solidFill>
                <a:latin typeface="Arial"/>
                <a:ea typeface="Arial"/>
                <a:cs typeface="Arial"/>
                <a:sym typeface="Arial"/>
              </a:rPr>
              <a:t>What is doPlan?</a:t>
            </a:r>
            <a:endParaRPr b="0" i="0" sz="3000" u="none" cap="none" strike="noStrike">
              <a:solidFill>
                <a:schemeClr val="dk1"/>
              </a:solidFill>
              <a:latin typeface="Arial"/>
              <a:ea typeface="Arial"/>
              <a:cs typeface="Arial"/>
              <a:sym typeface="Arial"/>
            </a:endParaRPr>
          </a:p>
        </p:txBody>
      </p:sp>
      <p:sp>
        <p:nvSpPr>
          <p:cNvPr id="141" name="Google Shape;141;p8"/>
          <p:cNvSpPr/>
          <p:nvPr/>
        </p:nvSpPr>
        <p:spPr>
          <a:xfrm>
            <a:off x="566928" y="1170432"/>
            <a:ext cx="914400" cy="54864"/>
          </a:xfrm>
          <a:prstGeom prst="rect">
            <a:avLst/>
          </a:prstGeom>
          <a:solidFill>
            <a:srgbClr val="76B900"/>
          </a:solidFill>
          <a:ln cap="flat" cmpd="sng" w="12700">
            <a:solidFill>
              <a:srgbClr val="76B9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8"/>
          <p:cNvSpPr/>
          <p:nvPr/>
        </p:nvSpPr>
        <p:spPr>
          <a:xfrm>
            <a:off x="731520" y="1508760"/>
            <a:ext cx="3931920" cy="4389120"/>
          </a:xfrm>
          <a:prstGeom prst="roundRect">
            <a:avLst>
              <a:gd fmla="val 3256"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8"/>
          <p:cNvSpPr/>
          <p:nvPr/>
        </p:nvSpPr>
        <p:spPr>
          <a:xfrm>
            <a:off x="1078992" y="1847088"/>
            <a:ext cx="3246120" cy="914400"/>
          </a:xfrm>
          <a:prstGeom prst="rect">
            <a:avLst/>
          </a:prstGeom>
          <a:noFill/>
          <a:ln>
            <a:noFill/>
          </a:ln>
        </p:spPr>
        <p:txBody>
          <a:bodyPr anchorCtr="0" anchor="ctr" bIns="250" lIns="250" spcFirstLastPara="1" rIns="250" wrap="square" tIns="250">
            <a:noAutofit/>
          </a:bodyPr>
          <a:lstStyle/>
          <a:p>
            <a:pPr indent="0" lvl="0" marL="0" marR="0" rtl="0" algn="l">
              <a:lnSpc>
                <a:spcPct val="100000"/>
              </a:lnSpc>
              <a:spcBef>
                <a:spcPts val="0"/>
              </a:spcBef>
              <a:spcAft>
                <a:spcPts val="0"/>
              </a:spcAft>
              <a:buClr>
                <a:srgbClr val="111827"/>
              </a:buClr>
              <a:buSzPts val="2700"/>
              <a:buFont typeface="Arial"/>
              <a:buNone/>
            </a:pPr>
            <a:r>
              <a:rPr b="1" i="0" lang="en-US" sz="2700" u="none" cap="none" strike="noStrike">
                <a:solidFill>
                  <a:srgbClr val="111827"/>
                </a:solidFill>
                <a:latin typeface="Arial"/>
                <a:ea typeface="Arial"/>
                <a:cs typeface="Arial"/>
                <a:sym typeface="Arial"/>
              </a:rPr>
              <a:t>A dataset that pairs driving scenes with passenger-style instructions.</a:t>
            </a:r>
            <a:endParaRPr b="0" i="0" sz="2700" u="none" cap="none" strike="noStrike">
              <a:solidFill>
                <a:schemeClr val="dk1"/>
              </a:solidFill>
              <a:latin typeface="Arial"/>
              <a:ea typeface="Arial"/>
              <a:cs typeface="Arial"/>
              <a:sym typeface="Arial"/>
            </a:endParaRPr>
          </a:p>
        </p:txBody>
      </p:sp>
      <p:sp>
        <p:nvSpPr>
          <p:cNvPr id="144" name="Google Shape;144;p8"/>
          <p:cNvSpPr/>
          <p:nvPr/>
        </p:nvSpPr>
        <p:spPr>
          <a:xfrm>
            <a:off x="1143000" y="3383311"/>
            <a:ext cx="91500" cy="91500"/>
          </a:xfrm>
          <a:prstGeom prst="ellipse">
            <a:avLst/>
          </a:prstGeom>
          <a:solidFill>
            <a:srgbClr val="76B900"/>
          </a:solidFill>
          <a:ln cap="flat" cmpd="sng" w="12700">
            <a:solidFill>
              <a:srgbClr val="76B9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8"/>
          <p:cNvSpPr/>
          <p:nvPr/>
        </p:nvSpPr>
        <p:spPr>
          <a:xfrm>
            <a:off x="1344168" y="3273565"/>
            <a:ext cx="2834700" cy="301800"/>
          </a:xfrm>
          <a:prstGeom prst="rect">
            <a:avLst/>
          </a:prstGeom>
          <a:noFill/>
          <a:ln>
            <a:noFill/>
          </a:ln>
        </p:spPr>
        <p:txBody>
          <a:bodyPr anchorCtr="0" anchor="ctr" bIns="250" lIns="250" spcFirstLastPara="1" rIns="250" wrap="square" tIns="250">
            <a:noAutofit/>
          </a:bodyPr>
          <a:lstStyle/>
          <a:p>
            <a:pPr indent="0" lvl="0" marL="0" marR="0" rtl="0" algn="l">
              <a:lnSpc>
                <a:spcPct val="100000"/>
              </a:lnSpc>
              <a:spcBef>
                <a:spcPts val="0"/>
              </a:spcBef>
              <a:spcAft>
                <a:spcPts val="0"/>
              </a:spcAft>
              <a:buClr>
                <a:srgbClr val="111827"/>
              </a:buClr>
              <a:buSzPts val="1550"/>
              <a:buFont typeface="Arial"/>
              <a:buNone/>
            </a:pPr>
            <a:r>
              <a:rPr b="0" i="0" lang="en-US" sz="1550" u="none" cap="none" strike="noStrike">
                <a:solidFill>
                  <a:srgbClr val="111827"/>
                </a:solidFill>
                <a:latin typeface="Arial"/>
                <a:ea typeface="Arial"/>
                <a:cs typeface="Arial"/>
                <a:sym typeface="Arial"/>
              </a:rPr>
              <a:t>Built on nuPlan driving data</a:t>
            </a:r>
            <a:endParaRPr b="0" i="0" sz="1550" u="none" cap="none" strike="noStrike">
              <a:solidFill>
                <a:schemeClr val="dk1"/>
              </a:solidFill>
              <a:latin typeface="Arial"/>
              <a:ea typeface="Arial"/>
              <a:cs typeface="Arial"/>
              <a:sym typeface="Arial"/>
            </a:endParaRPr>
          </a:p>
        </p:txBody>
      </p:sp>
      <p:sp>
        <p:nvSpPr>
          <p:cNvPr id="146" name="Google Shape;146;p8"/>
          <p:cNvSpPr/>
          <p:nvPr/>
        </p:nvSpPr>
        <p:spPr>
          <a:xfrm>
            <a:off x="1143000" y="3666744"/>
            <a:ext cx="91440" cy="91440"/>
          </a:xfrm>
          <a:prstGeom prst="ellipse">
            <a:avLst/>
          </a:prstGeom>
          <a:solidFill>
            <a:srgbClr val="76B900"/>
          </a:solidFill>
          <a:ln cap="flat" cmpd="sng" w="12700">
            <a:solidFill>
              <a:srgbClr val="76B9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8"/>
          <p:cNvSpPr/>
          <p:nvPr/>
        </p:nvSpPr>
        <p:spPr>
          <a:xfrm>
            <a:off x="1344168" y="3566135"/>
            <a:ext cx="2834700" cy="301800"/>
          </a:xfrm>
          <a:prstGeom prst="rect">
            <a:avLst/>
          </a:prstGeom>
          <a:noFill/>
          <a:ln>
            <a:noFill/>
          </a:ln>
        </p:spPr>
        <p:txBody>
          <a:bodyPr anchorCtr="0" anchor="ctr" bIns="250" lIns="250" spcFirstLastPara="1" rIns="250" wrap="square" tIns="250">
            <a:noAutofit/>
          </a:bodyPr>
          <a:lstStyle/>
          <a:p>
            <a:pPr indent="0" lvl="0" marL="0" marR="0" rtl="0" algn="l">
              <a:lnSpc>
                <a:spcPct val="100000"/>
              </a:lnSpc>
              <a:spcBef>
                <a:spcPts val="0"/>
              </a:spcBef>
              <a:spcAft>
                <a:spcPts val="0"/>
              </a:spcAft>
              <a:buClr>
                <a:srgbClr val="111827"/>
              </a:buClr>
              <a:buSzPts val="1550"/>
              <a:buFont typeface="Arial"/>
              <a:buNone/>
            </a:pPr>
            <a:r>
              <a:rPr b="0" i="0" lang="en-US" sz="1550" u="none" cap="none" strike="noStrike">
                <a:solidFill>
                  <a:srgbClr val="111827"/>
                </a:solidFill>
                <a:latin typeface="Arial"/>
                <a:ea typeface="Arial"/>
                <a:cs typeface="Arial"/>
                <a:sym typeface="Arial"/>
              </a:rPr>
              <a:t>Uses variable-length clips</a:t>
            </a:r>
            <a:endParaRPr b="0" i="0" sz="1550" u="none" cap="none" strike="noStrike">
              <a:solidFill>
                <a:schemeClr val="dk1"/>
              </a:solidFill>
              <a:latin typeface="Arial"/>
              <a:ea typeface="Arial"/>
              <a:cs typeface="Arial"/>
              <a:sym typeface="Arial"/>
            </a:endParaRPr>
          </a:p>
        </p:txBody>
      </p:sp>
      <p:sp>
        <p:nvSpPr>
          <p:cNvPr id="148" name="Google Shape;148;p8"/>
          <p:cNvSpPr/>
          <p:nvPr/>
        </p:nvSpPr>
        <p:spPr>
          <a:xfrm>
            <a:off x="1143000" y="4187952"/>
            <a:ext cx="91440" cy="91440"/>
          </a:xfrm>
          <a:prstGeom prst="ellipse">
            <a:avLst/>
          </a:prstGeom>
          <a:solidFill>
            <a:srgbClr val="76B900"/>
          </a:solidFill>
          <a:ln cap="flat" cmpd="sng" w="12700">
            <a:solidFill>
              <a:srgbClr val="76B9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8"/>
          <p:cNvSpPr/>
          <p:nvPr/>
        </p:nvSpPr>
        <p:spPr>
          <a:xfrm>
            <a:off x="1344168" y="4087368"/>
            <a:ext cx="2834640" cy="301752"/>
          </a:xfrm>
          <a:prstGeom prst="rect">
            <a:avLst/>
          </a:prstGeom>
          <a:noFill/>
          <a:ln>
            <a:noFill/>
          </a:ln>
        </p:spPr>
        <p:txBody>
          <a:bodyPr anchorCtr="0" anchor="ctr" bIns="250" lIns="250" spcFirstLastPara="1" rIns="250" wrap="square" tIns="250">
            <a:noAutofit/>
          </a:bodyPr>
          <a:lstStyle/>
          <a:p>
            <a:pPr indent="0" lvl="0" marL="0" marR="0" rtl="0" algn="l">
              <a:lnSpc>
                <a:spcPct val="100000"/>
              </a:lnSpc>
              <a:spcBef>
                <a:spcPts val="0"/>
              </a:spcBef>
              <a:spcAft>
                <a:spcPts val="0"/>
              </a:spcAft>
              <a:buClr>
                <a:srgbClr val="111827"/>
              </a:buClr>
              <a:buSzPts val="1550"/>
              <a:buFont typeface="Arial"/>
              <a:buNone/>
            </a:pPr>
            <a:r>
              <a:rPr b="0" i="0" lang="en-US" sz="1550" u="none" cap="none" strike="noStrike">
                <a:solidFill>
                  <a:srgbClr val="111827"/>
                </a:solidFill>
                <a:latin typeface="Arial"/>
                <a:ea typeface="Arial"/>
                <a:cs typeface="Arial"/>
                <a:sym typeface="Arial"/>
              </a:rPr>
              <a:t>Captures intent, not scene captions</a:t>
            </a:r>
            <a:endParaRPr b="0" i="0" sz="1550" u="none" cap="none" strike="noStrike">
              <a:solidFill>
                <a:schemeClr val="dk1"/>
              </a:solidFill>
              <a:latin typeface="Arial"/>
              <a:ea typeface="Arial"/>
              <a:cs typeface="Arial"/>
              <a:sym typeface="Arial"/>
            </a:endParaRPr>
          </a:p>
        </p:txBody>
      </p:sp>
      <p:sp>
        <p:nvSpPr>
          <p:cNvPr id="150" name="Google Shape;150;p8"/>
          <p:cNvSpPr/>
          <p:nvPr/>
        </p:nvSpPr>
        <p:spPr>
          <a:xfrm>
            <a:off x="1143000" y="4709160"/>
            <a:ext cx="91440" cy="91440"/>
          </a:xfrm>
          <a:prstGeom prst="ellipse">
            <a:avLst/>
          </a:prstGeom>
          <a:solidFill>
            <a:srgbClr val="76B900"/>
          </a:solidFill>
          <a:ln cap="flat" cmpd="sng" w="12700">
            <a:solidFill>
              <a:srgbClr val="76B9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8"/>
          <p:cNvSpPr/>
          <p:nvPr/>
        </p:nvSpPr>
        <p:spPr>
          <a:xfrm>
            <a:off x="1344168" y="4608576"/>
            <a:ext cx="2834640" cy="301752"/>
          </a:xfrm>
          <a:prstGeom prst="rect">
            <a:avLst/>
          </a:prstGeom>
          <a:noFill/>
          <a:ln>
            <a:noFill/>
          </a:ln>
        </p:spPr>
        <p:txBody>
          <a:bodyPr anchorCtr="0" anchor="ctr" bIns="250" lIns="250" spcFirstLastPara="1" rIns="250" wrap="square" tIns="250">
            <a:noAutofit/>
          </a:bodyPr>
          <a:lstStyle/>
          <a:p>
            <a:pPr indent="0" lvl="0" marL="0" marR="0" rtl="0" algn="l">
              <a:lnSpc>
                <a:spcPct val="100000"/>
              </a:lnSpc>
              <a:spcBef>
                <a:spcPts val="0"/>
              </a:spcBef>
              <a:spcAft>
                <a:spcPts val="0"/>
              </a:spcAft>
              <a:buClr>
                <a:srgbClr val="111827"/>
              </a:buClr>
              <a:buSzPts val="1550"/>
              <a:buFont typeface="Arial"/>
              <a:buNone/>
            </a:pPr>
            <a:r>
              <a:rPr b="0" i="0" lang="en-US" sz="1550" u="none" cap="none" strike="noStrike">
                <a:solidFill>
                  <a:srgbClr val="111827"/>
                </a:solidFill>
                <a:latin typeface="Arial"/>
                <a:ea typeface="Arial"/>
                <a:cs typeface="Arial"/>
                <a:sym typeface="Arial"/>
              </a:rPr>
              <a:t>Adds referential tags</a:t>
            </a:r>
            <a:endParaRPr b="0" i="0" sz="1550" u="none" cap="none" strike="noStrike">
              <a:solidFill>
                <a:schemeClr val="dk1"/>
              </a:solidFill>
              <a:latin typeface="Arial"/>
              <a:ea typeface="Arial"/>
              <a:cs typeface="Arial"/>
              <a:sym typeface="Arial"/>
            </a:endParaRPr>
          </a:p>
        </p:txBody>
      </p:sp>
      <p:sp>
        <p:nvSpPr>
          <p:cNvPr id="152" name="Google Shape;152;p8"/>
          <p:cNvSpPr/>
          <p:nvPr/>
        </p:nvSpPr>
        <p:spPr>
          <a:xfrm>
            <a:off x="5074920" y="2331720"/>
            <a:ext cx="1234440" cy="1143000"/>
          </a:xfrm>
          <a:prstGeom prst="roundRect">
            <a:avLst>
              <a:gd fmla="val 11200"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8"/>
          <p:cNvSpPr/>
          <p:nvPr/>
        </p:nvSpPr>
        <p:spPr>
          <a:xfrm>
            <a:off x="5166360" y="2542032"/>
            <a:ext cx="1051560" cy="3017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1500"/>
              <a:buFont typeface="Arial"/>
              <a:buNone/>
            </a:pPr>
            <a:r>
              <a:rPr b="1" i="0" lang="en-US" sz="1500" u="none" cap="none" strike="noStrike">
                <a:solidFill>
                  <a:srgbClr val="111827"/>
                </a:solidFill>
                <a:latin typeface="Arial"/>
                <a:ea typeface="Arial"/>
                <a:cs typeface="Arial"/>
                <a:sym typeface="Arial"/>
              </a:rPr>
              <a:t>nuPlan</a:t>
            </a:r>
            <a:endParaRPr b="0" i="0" sz="1500" u="none" cap="none" strike="noStrike">
              <a:solidFill>
                <a:schemeClr val="dk1"/>
              </a:solidFill>
              <a:latin typeface="Arial"/>
              <a:ea typeface="Arial"/>
              <a:cs typeface="Arial"/>
              <a:sym typeface="Arial"/>
            </a:endParaRPr>
          </a:p>
        </p:txBody>
      </p:sp>
      <p:sp>
        <p:nvSpPr>
          <p:cNvPr id="154" name="Google Shape;154;p8"/>
          <p:cNvSpPr/>
          <p:nvPr/>
        </p:nvSpPr>
        <p:spPr>
          <a:xfrm>
            <a:off x="5166360" y="2880360"/>
            <a:ext cx="1051560"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850"/>
              <a:buFont typeface="Arial"/>
              <a:buNone/>
            </a:pPr>
            <a:r>
              <a:rPr b="0" i="0" lang="en-US" sz="850" u="none" cap="none" strike="noStrike">
                <a:solidFill>
                  <a:srgbClr val="6B7280"/>
                </a:solidFill>
                <a:latin typeface="Arial"/>
                <a:ea typeface="Arial"/>
                <a:cs typeface="Arial"/>
                <a:sym typeface="Arial"/>
              </a:rPr>
              <a:t>driving data</a:t>
            </a:r>
            <a:endParaRPr b="0" i="0" sz="850" u="none" cap="none" strike="noStrike">
              <a:solidFill>
                <a:schemeClr val="dk1"/>
              </a:solidFill>
              <a:latin typeface="Arial"/>
              <a:ea typeface="Arial"/>
              <a:cs typeface="Arial"/>
              <a:sym typeface="Arial"/>
            </a:endParaRPr>
          </a:p>
        </p:txBody>
      </p:sp>
      <p:sp>
        <p:nvSpPr>
          <p:cNvPr id="155" name="Google Shape;155;p8"/>
          <p:cNvSpPr/>
          <p:nvPr/>
        </p:nvSpPr>
        <p:spPr>
          <a:xfrm>
            <a:off x="6428232" y="2679192"/>
            <a:ext cx="228600" cy="228600"/>
          </a:xfrm>
          <a:prstGeom prst="chevron">
            <a:avLst>
              <a:gd fmla="val 50000" name="adj"/>
            </a:avLst>
          </a:prstGeom>
          <a:solidFill>
            <a:srgbClr val="76B900"/>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8"/>
          <p:cNvSpPr/>
          <p:nvPr/>
        </p:nvSpPr>
        <p:spPr>
          <a:xfrm>
            <a:off x="6739128" y="2331720"/>
            <a:ext cx="1234440" cy="1143000"/>
          </a:xfrm>
          <a:prstGeom prst="roundRect">
            <a:avLst>
              <a:gd fmla="val 11200"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8"/>
          <p:cNvSpPr/>
          <p:nvPr/>
        </p:nvSpPr>
        <p:spPr>
          <a:xfrm>
            <a:off x="6830568" y="2542032"/>
            <a:ext cx="1051560" cy="3017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1500"/>
              <a:buFont typeface="Arial"/>
              <a:buNone/>
            </a:pPr>
            <a:r>
              <a:rPr b="1" i="0" lang="en-US" sz="1500" u="none" cap="none" strike="noStrike">
                <a:solidFill>
                  <a:srgbClr val="111827"/>
                </a:solidFill>
                <a:latin typeface="Arial"/>
                <a:ea typeface="Arial"/>
                <a:cs typeface="Arial"/>
                <a:sym typeface="Arial"/>
              </a:rPr>
              <a:t>Random</a:t>
            </a:r>
            <a:endParaRPr b="0" i="0" sz="1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111827"/>
              </a:buClr>
              <a:buSzPts val="1500"/>
              <a:buFont typeface="Arial"/>
              <a:buNone/>
            </a:pPr>
            <a:r>
              <a:rPr b="1" i="0" lang="en-US" sz="1500" u="none" cap="none" strike="noStrike">
                <a:solidFill>
                  <a:srgbClr val="111827"/>
                </a:solidFill>
                <a:latin typeface="Arial"/>
                <a:ea typeface="Arial"/>
                <a:cs typeface="Arial"/>
                <a:sym typeface="Arial"/>
              </a:rPr>
              <a:t>segment</a:t>
            </a:r>
            <a:endParaRPr b="0" i="0" sz="1500" u="none" cap="none" strike="noStrike">
              <a:solidFill>
                <a:schemeClr val="dk1"/>
              </a:solidFill>
              <a:latin typeface="Arial"/>
              <a:ea typeface="Arial"/>
              <a:cs typeface="Arial"/>
              <a:sym typeface="Arial"/>
            </a:endParaRPr>
          </a:p>
        </p:txBody>
      </p:sp>
      <p:sp>
        <p:nvSpPr>
          <p:cNvPr id="158" name="Google Shape;158;p8"/>
          <p:cNvSpPr/>
          <p:nvPr/>
        </p:nvSpPr>
        <p:spPr>
          <a:xfrm>
            <a:off x="6830568" y="2880360"/>
            <a:ext cx="1051560"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850"/>
              <a:buFont typeface="Arial"/>
              <a:buNone/>
            </a:pPr>
            <a:r>
              <a:rPr b="0" i="0" lang="en-US" sz="850" u="none" cap="none" strike="noStrike">
                <a:solidFill>
                  <a:srgbClr val="6B7280"/>
                </a:solidFill>
                <a:latin typeface="Arial"/>
                <a:ea typeface="Arial"/>
                <a:cs typeface="Arial"/>
                <a:sym typeface="Arial"/>
              </a:rPr>
              <a:t>10s+ windows</a:t>
            </a:r>
            <a:endParaRPr b="0" i="0" sz="850" u="none" cap="none" strike="noStrike">
              <a:solidFill>
                <a:schemeClr val="dk1"/>
              </a:solidFill>
              <a:latin typeface="Arial"/>
              <a:ea typeface="Arial"/>
              <a:cs typeface="Arial"/>
              <a:sym typeface="Arial"/>
            </a:endParaRPr>
          </a:p>
        </p:txBody>
      </p:sp>
      <p:sp>
        <p:nvSpPr>
          <p:cNvPr id="159" name="Google Shape;159;p8"/>
          <p:cNvSpPr/>
          <p:nvPr/>
        </p:nvSpPr>
        <p:spPr>
          <a:xfrm>
            <a:off x="8092440" y="2679192"/>
            <a:ext cx="228600" cy="228600"/>
          </a:xfrm>
          <a:prstGeom prst="chevron">
            <a:avLst>
              <a:gd fmla="val 50000" name="adj"/>
            </a:avLst>
          </a:prstGeom>
          <a:solidFill>
            <a:srgbClr val="76B900"/>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8"/>
          <p:cNvSpPr/>
          <p:nvPr/>
        </p:nvSpPr>
        <p:spPr>
          <a:xfrm>
            <a:off x="8403336" y="2331720"/>
            <a:ext cx="1234440" cy="1143000"/>
          </a:xfrm>
          <a:prstGeom prst="roundRect">
            <a:avLst>
              <a:gd fmla="val 11200"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8"/>
          <p:cNvSpPr/>
          <p:nvPr/>
        </p:nvSpPr>
        <p:spPr>
          <a:xfrm>
            <a:off x="8494776" y="2542032"/>
            <a:ext cx="1051560" cy="3017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1500"/>
              <a:buFont typeface="Arial"/>
              <a:buNone/>
            </a:pPr>
            <a:r>
              <a:rPr b="1" i="0" lang="en-US" sz="1500" u="none" cap="none" strike="noStrike">
                <a:solidFill>
                  <a:srgbClr val="111827"/>
                </a:solidFill>
                <a:latin typeface="Arial"/>
                <a:ea typeface="Arial"/>
                <a:cs typeface="Arial"/>
                <a:sym typeface="Arial"/>
              </a:rPr>
              <a:t>Annotator</a:t>
            </a:r>
            <a:endParaRPr b="0" i="0" sz="1500" u="none" cap="none" strike="noStrike">
              <a:solidFill>
                <a:schemeClr val="dk1"/>
              </a:solidFill>
              <a:latin typeface="Arial"/>
              <a:ea typeface="Arial"/>
              <a:cs typeface="Arial"/>
              <a:sym typeface="Arial"/>
            </a:endParaRPr>
          </a:p>
        </p:txBody>
      </p:sp>
      <p:sp>
        <p:nvSpPr>
          <p:cNvPr id="162" name="Google Shape;162;p8"/>
          <p:cNvSpPr/>
          <p:nvPr/>
        </p:nvSpPr>
        <p:spPr>
          <a:xfrm>
            <a:off x="8494776" y="2880360"/>
            <a:ext cx="1051560"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850"/>
              <a:buFont typeface="Arial"/>
              <a:buNone/>
            </a:pPr>
            <a:r>
              <a:rPr b="0" i="0" lang="en-US" sz="850" u="none" cap="none" strike="noStrike">
                <a:solidFill>
                  <a:srgbClr val="6B7280"/>
                </a:solidFill>
                <a:latin typeface="Arial"/>
                <a:ea typeface="Arial"/>
                <a:cs typeface="Arial"/>
                <a:sym typeface="Arial"/>
              </a:rPr>
              <a:t>passenger view</a:t>
            </a:r>
            <a:endParaRPr b="0" i="0" sz="850" u="none" cap="none" strike="noStrike">
              <a:solidFill>
                <a:schemeClr val="dk1"/>
              </a:solidFill>
              <a:latin typeface="Arial"/>
              <a:ea typeface="Arial"/>
              <a:cs typeface="Arial"/>
              <a:sym typeface="Arial"/>
            </a:endParaRPr>
          </a:p>
        </p:txBody>
      </p:sp>
      <p:sp>
        <p:nvSpPr>
          <p:cNvPr id="163" name="Google Shape;163;p8"/>
          <p:cNvSpPr/>
          <p:nvPr/>
        </p:nvSpPr>
        <p:spPr>
          <a:xfrm>
            <a:off x="9756648" y="2679192"/>
            <a:ext cx="228600" cy="228600"/>
          </a:xfrm>
          <a:prstGeom prst="chevron">
            <a:avLst>
              <a:gd fmla="val 50000" name="adj"/>
            </a:avLst>
          </a:prstGeom>
          <a:solidFill>
            <a:srgbClr val="76B900"/>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8"/>
          <p:cNvSpPr/>
          <p:nvPr/>
        </p:nvSpPr>
        <p:spPr>
          <a:xfrm>
            <a:off x="10067544" y="2331720"/>
            <a:ext cx="1234440" cy="1143000"/>
          </a:xfrm>
          <a:prstGeom prst="roundRect">
            <a:avLst>
              <a:gd fmla="val 11200" name="adj"/>
            </a:avLst>
          </a:prstGeom>
          <a:solidFill>
            <a:srgbClr val="ECFDF5"/>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8"/>
          <p:cNvSpPr/>
          <p:nvPr/>
        </p:nvSpPr>
        <p:spPr>
          <a:xfrm>
            <a:off x="10158984" y="2542032"/>
            <a:ext cx="1051560" cy="3017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6B900"/>
              </a:buClr>
              <a:buSzPts val="1500"/>
              <a:buFont typeface="Arial"/>
              <a:buNone/>
            </a:pPr>
            <a:r>
              <a:rPr b="1" i="0" lang="en-US" sz="1500" u="none" cap="none" strike="noStrike">
                <a:solidFill>
                  <a:srgbClr val="76B900"/>
                </a:solidFill>
                <a:latin typeface="Arial"/>
                <a:ea typeface="Arial"/>
                <a:cs typeface="Arial"/>
                <a:sym typeface="Arial"/>
              </a:rPr>
              <a:t>doPlan</a:t>
            </a:r>
            <a:endParaRPr b="0" i="0" sz="1500" u="none" cap="none" strike="noStrike">
              <a:solidFill>
                <a:schemeClr val="dk1"/>
              </a:solidFill>
              <a:latin typeface="Arial"/>
              <a:ea typeface="Arial"/>
              <a:cs typeface="Arial"/>
              <a:sym typeface="Arial"/>
            </a:endParaRPr>
          </a:p>
        </p:txBody>
      </p:sp>
      <p:sp>
        <p:nvSpPr>
          <p:cNvPr id="166" name="Google Shape;166;p8"/>
          <p:cNvSpPr/>
          <p:nvPr/>
        </p:nvSpPr>
        <p:spPr>
          <a:xfrm>
            <a:off x="10158984" y="2880360"/>
            <a:ext cx="1051560"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850"/>
              <a:buFont typeface="Arial"/>
              <a:buNone/>
            </a:pPr>
            <a:r>
              <a:rPr b="0" i="0" lang="en-US" sz="850" u="none" cap="none" strike="noStrike">
                <a:solidFill>
                  <a:srgbClr val="6B7280"/>
                </a:solidFill>
                <a:latin typeface="Arial"/>
                <a:ea typeface="Arial"/>
                <a:cs typeface="Arial"/>
                <a:sym typeface="Arial"/>
              </a:rPr>
              <a:t>instruction + tag</a:t>
            </a:r>
            <a:endParaRPr b="0" i="0" sz="850" u="none" cap="none" strike="noStrike">
              <a:solidFill>
                <a:schemeClr val="dk1"/>
              </a:solidFill>
              <a:latin typeface="Arial"/>
              <a:ea typeface="Arial"/>
              <a:cs typeface="Arial"/>
              <a:sym typeface="Arial"/>
            </a:endParaRPr>
          </a:p>
        </p:txBody>
      </p:sp>
      <p:sp>
        <p:nvSpPr>
          <p:cNvPr id="167" name="Google Shape;167;p8"/>
          <p:cNvSpPr/>
          <p:nvPr/>
        </p:nvSpPr>
        <p:spPr>
          <a:xfrm>
            <a:off x="5532120" y="4165105"/>
            <a:ext cx="4892100" cy="960000"/>
          </a:xfrm>
          <a:prstGeom prst="roundRect">
            <a:avLst>
              <a:gd fmla="val 13333" name="adj"/>
            </a:avLst>
          </a:prstGeom>
          <a:solidFill>
            <a:srgbClr val="111827"/>
          </a:solidFill>
          <a:ln cap="flat" cmpd="sng" w="12700">
            <a:solidFill>
              <a:srgbClr val="E5E7E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8"/>
          <p:cNvSpPr/>
          <p:nvPr/>
        </p:nvSpPr>
        <p:spPr>
          <a:xfrm>
            <a:off x="5806440" y="4498848"/>
            <a:ext cx="6858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6B900"/>
              </a:buClr>
              <a:buSzPts val="1200"/>
              <a:buFont typeface="Arial"/>
              <a:buNone/>
            </a:pPr>
            <a:r>
              <a:rPr b="1" i="0" lang="en-US" sz="1200" u="none" cap="none" strike="noStrike">
                <a:solidFill>
                  <a:srgbClr val="76B900"/>
                </a:solidFill>
                <a:latin typeface="Arial"/>
                <a:ea typeface="Arial"/>
                <a:cs typeface="Arial"/>
                <a:sym typeface="Arial"/>
              </a:rPr>
              <a:t>Goal</a:t>
            </a:r>
            <a:endParaRPr b="0" i="0" sz="1200" u="none" cap="none" strike="noStrike">
              <a:solidFill>
                <a:schemeClr val="dk1"/>
              </a:solidFill>
              <a:latin typeface="Arial"/>
              <a:ea typeface="Arial"/>
              <a:cs typeface="Arial"/>
              <a:sym typeface="Arial"/>
            </a:endParaRPr>
          </a:p>
        </p:txBody>
      </p:sp>
      <p:sp>
        <p:nvSpPr>
          <p:cNvPr id="169" name="Google Shape;169;p8"/>
          <p:cNvSpPr/>
          <p:nvPr/>
        </p:nvSpPr>
        <p:spPr>
          <a:xfrm>
            <a:off x="6492240" y="4471416"/>
            <a:ext cx="35204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50"/>
              <a:buFont typeface="Arial"/>
              <a:buNone/>
            </a:pPr>
            <a:r>
              <a:rPr b="1" i="0" lang="en-US" sz="1550" u="none" cap="none" strike="noStrike">
                <a:solidFill>
                  <a:srgbClr val="FFFFFF"/>
                </a:solidFill>
                <a:latin typeface="Arial"/>
                <a:ea typeface="Arial"/>
                <a:cs typeface="Arial"/>
                <a:sym typeface="Arial"/>
              </a:rPr>
              <a:t>Support future models that can connect language, perception, and planning over time.</a:t>
            </a:r>
            <a:endParaRPr b="0" i="0" sz="1550" u="none" cap="none" strike="noStrike">
              <a:solidFill>
                <a:schemeClr val="dk1"/>
              </a:solidFill>
              <a:latin typeface="Arial"/>
              <a:ea typeface="Arial"/>
              <a:cs typeface="Arial"/>
              <a:sym typeface="Arial"/>
            </a:endParaRPr>
          </a:p>
        </p:txBody>
      </p:sp>
      <p:sp>
        <p:nvSpPr>
          <p:cNvPr id="170" name="Google Shape;170;p8"/>
          <p:cNvSpPr txBox="1"/>
          <p:nvPr>
            <p:ph idx="4294967295" type="sldNum"/>
          </p:nvPr>
        </p:nvSpPr>
        <p:spPr>
          <a:xfrm>
            <a:off x="11430000" y="6583680"/>
            <a:ext cx="8000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None/>
            </a:pPr>
            <a:fld id="{00000000-1234-1234-1234-123412341234}" type="slidenum">
              <a:rPr b="0" i="0" lang="en-US" sz="1200" u="none" cap="none" strike="noStrike">
                <a:solidFill>
                  <a:srgbClr val="6B7280"/>
                </a:solidFill>
                <a:latin typeface="Arial"/>
                <a:ea typeface="Arial"/>
                <a:cs typeface="Arial"/>
                <a:sym typeface="Arial"/>
              </a:rPr>
              <a:t>‹#›</a:t>
            </a:fld>
            <a:endParaRPr b="0" i="0" sz="1200" u="none" cap="none" strike="noStrike">
              <a:solidFill>
                <a:srgbClr val="6B728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9"/>
          <p:cNvSpPr/>
          <p:nvPr/>
        </p:nvSpPr>
        <p:spPr>
          <a:xfrm>
            <a:off x="566928" y="320040"/>
            <a:ext cx="27432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6B900"/>
              </a:buClr>
              <a:buSzPts val="1000"/>
              <a:buFont typeface="Arial"/>
              <a:buNone/>
            </a:pPr>
            <a:r>
              <a:rPr b="1" i="0" lang="en-US" sz="1000" u="none" cap="none" strike="noStrike">
                <a:solidFill>
                  <a:srgbClr val="76B900"/>
                </a:solidFill>
                <a:latin typeface="Arial"/>
                <a:ea typeface="Arial"/>
                <a:cs typeface="Arial"/>
                <a:sym typeface="Arial"/>
              </a:rPr>
              <a:t>WHAT I USED</a:t>
            </a:r>
            <a:endParaRPr b="0" i="0" sz="1000" u="none" cap="none" strike="noStrike">
              <a:solidFill>
                <a:schemeClr val="dk1"/>
              </a:solidFill>
              <a:latin typeface="Arial"/>
              <a:ea typeface="Arial"/>
              <a:cs typeface="Arial"/>
              <a:sym typeface="Arial"/>
            </a:endParaRPr>
          </a:p>
        </p:txBody>
      </p:sp>
      <p:sp>
        <p:nvSpPr>
          <p:cNvPr id="177" name="Google Shape;177;p9"/>
          <p:cNvSpPr/>
          <p:nvPr/>
        </p:nvSpPr>
        <p:spPr>
          <a:xfrm>
            <a:off x="566928" y="594360"/>
            <a:ext cx="77724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3000"/>
              <a:buFont typeface="Arial"/>
              <a:buNone/>
            </a:pPr>
            <a:r>
              <a:rPr b="1" i="0" lang="en-US" sz="3000" u="none" cap="none" strike="noStrike">
                <a:solidFill>
                  <a:srgbClr val="111827"/>
                </a:solidFill>
                <a:latin typeface="Arial"/>
                <a:ea typeface="Arial"/>
                <a:cs typeface="Arial"/>
                <a:sym typeface="Arial"/>
              </a:rPr>
              <a:t>The annotation interface</a:t>
            </a:r>
            <a:endParaRPr b="0" i="0" sz="3000" u="none" cap="none" strike="noStrike">
              <a:solidFill>
                <a:schemeClr val="dk1"/>
              </a:solidFill>
              <a:latin typeface="Arial"/>
              <a:ea typeface="Arial"/>
              <a:cs typeface="Arial"/>
              <a:sym typeface="Arial"/>
            </a:endParaRPr>
          </a:p>
        </p:txBody>
      </p:sp>
      <p:sp>
        <p:nvSpPr>
          <p:cNvPr id="178" name="Google Shape;178;p9"/>
          <p:cNvSpPr/>
          <p:nvPr/>
        </p:nvSpPr>
        <p:spPr>
          <a:xfrm>
            <a:off x="566928" y="1170432"/>
            <a:ext cx="914400" cy="54864"/>
          </a:xfrm>
          <a:prstGeom prst="rect">
            <a:avLst/>
          </a:prstGeom>
          <a:solidFill>
            <a:srgbClr val="76B900"/>
          </a:solidFill>
          <a:ln cap="flat" cmpd="sng" w="12700">
            <a:solidFill>
              <a:srgbClr val="76B9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9"/>
          <p:cNvSpPr/>
          <p:nvPr/>
        </p:nvSpPr>
        <p:spPr>
          <a:xfrm>
            <a:off x="8001000" y="1481328"/>
            <a:ext cx="3474720" cy="4005072"/>
          </a:xfrm>
          <a:prstGeom prst="roundRect">
            <a:avLst>
              <a:gd fmla="val 3684"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9"/>
          <p:cNvSpPr/>
          <p:nvPr/>
        </p:nvSpPr>
        <p:spPr>
          <a:xfrm>
            <a:off x="8275320" y="1801368"/>
            <a:ext cx="164592" cy="164592"/>
          </a:xfrm>
          <a:prstGeom prst="ellipse">
            <a:avLst/>
          </a:prstGeom>
          <a:solidFill>
            <a:srgbClr val="76B900"/>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9"/>
          <p:cNvSpPr/>
          <p:nvPr/>
        </p:nvSpPr>
        <p:spPr>
          <a:xfrm>
            <a:off x="8577072" y="1783080"/>
            <a:ext cx="25603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500"/>
              <a:buFont typeface="Arial"/>
              <a:buNone/>
            </a:pPr>
            <a:r>
              <a:rPr b="1" i="0" lang="en-US" sz="1500" u="none" cap="none" strike="noStrike">
                <a:solidFill>
                  <a:srgbClr val="111827"/>
                </a:solidFill>
                <a:latin typeface="Arial"/>
                <a:ea typeface="Arial"/>
                <a:cs typeface="Arial"/>
                <a:sym typeface="Arial"/>
              </a:rPr>
              <a:t>Multi-view camera context</a:t>
            </a:r>
            <a:endParaRPr b="0" i="0" sz="1500" u="none" cap="none" strike="noStrike">
              <a:solidFill>
                <a:schemeClr val="dk1"/>
              </a:solidFill>
              <a:latin typeface="Arial"/>
              <a:ea typeface="Arial"/>
              <a:cs typeface="Arial"/>
              <a:sym typeface="Arial"/>
            </a:endParaRPr>
          </a:p>
        </p:txBody>
      </p:sp>
      <p:sp>
        <p:nvSpPr>
          <p:cNvPr id="182" name="Google Shape;182;p9"/>
          <p:cNvSpPr/>
          <p:nvPr/>
        </p:nvSpPr>
        <p:spPr>
          <a:xfrm>
            <a:off x="8577072" y="2039112"/>
            <a:ext cx="24231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Arial"/>
              <a:buNone/>
            </a:pPr>
            <a:r>
              <a:rPr b="0" i="0" lang="en-US" sz="1050" u="none" cap="none" strike="noStrike">
                <a:solidFill>
                  <a:srgbClr val="6B7280"/>
                </a:solidFill>
                <a:latin typeface="Arial"/>
                <a:ea typeface="Arial"/>
                <a:cs typeface="Arial"/>
                <a:sym typeface="Arial"/>
              </a:rPr>
              <a:t>front, side, rear views</a:t>
            </a:r>
            <a:endParaRPr b="0" i="0" sz="1050" u="none" cap="none" strike="noStrike">
              <a:solidFill>
                <a:schemeClr val="dk1"/>
              </a:solidFill>
              <a:latin typeface="Arial"/>
              <a:ea typeface="Arial"/>
              <a:cs typeface="Arial"/>
              <a:sym typeface="Arial"/>
            </a:endParaRPr>
          </a:p>
        </p:txBody>
      </p:sp>
      <p:sp>
        <p:nvSpPr>
          <p:cNvPr id="183" name="Google Shape;183;p9"/>
          <p:cNvSpPr/>
          <p:nvPr/>
        </p:nvSpPr>
        <p:spPr>
          <a:xfrm>
            <a:off x="8275320" y="2596896"/>
            <a:ext cx="164592" cy="164592"/>
          </a:xfrm>
          <a:prstGeom prst="ellipse">
            <a:avLst/>
          </a:prstGeom>
          <a:solidFill>
            <a:srgbClr val="76B900"/>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9"/>
          <p:cNvSpPr/>
          <p:nvPr/>
        </p:nvSpPr>
        <p:spPr>
          <a:xfrm>
            <a:off x="8577072" y="2578608"/>
            <a:ext cx="25603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500"/>
              <a:buFont typeface="Arial"/>
              <a:buNone/>
            </a:pPr>
            <a:r>
              <a:rPr b="1" i="0" lang="en-US" sz="1500" u="none" cap="none" strike="noStrike">
                <a:solidFill>
                  <a:srgbClr val="111827"/>
                </a:solidFill>
                <a:latin typeface="Arial"/>
                <a:ea typeface="Arial"/>
                <a:cs typeface="Arial"/>
                <a:sym typeface="Arial"/>
              </a:rPr>
              <a:t>Map context</a:t>
            </a:r>
            <a:endParaRPr b="0" i="0" sz="1500" u="none" cap="none" strike="noStrike">
              <a:solidFill>
                <a:schemeClr val="dk1"/>
              </a:solidFill>
              <a:latin typeface="Arial"/>
              <a:ea typeface="Arial"/>
              <a:cs typeface="Arial"/>
              <a:sym typeface="Arial"/>
            </a:endParaRPr>
          </a:p>
        </p:txBody>
      </p:sp>
      <p:sp>
        <p:nvSpPr>
          <p:cNvPr id="185" name="Google Shape;185;p9"/>
          <p:cNvSpPr/>
          <p:nvPr/>
        </p:nvSpPr>
        <p:spPr>
          <a:xfrm>
            <a:off x="8577072" y="2834640"/>
            <a:ext cx="24231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Arial"/>
              <a:buNone/>
            </a:pPr>
            <a:r>
              <a:rPr b="0" i="0" lang="en-US" sz="1050" u="none" cap="none" strike="noStrike">
                <a:solidFill>
                  <a:srgbClr val="6B7280"/>
                </a:solidFill>
                <a:latin typeface="Arial"/>
                <a:ea typeface="Arial"/>
                <a:cs typeface="Arial"/>
                <a:sym typeface="Arial"/>
              </a:rPr>
              <a:t>route position + landmarks</a:t>
            </a:r>
            <a:endParaRPr b="0" i="0" sz="1050" u="none" cap="none" strike="noStrike">
              <a:solidFill>
                <a:schemeClr val="dk1"/>
              </a:solidFill>
              <a:latin typeface="Arial"/>
              <a:ea typeface="Arial"/>
              <a:cs typeface="Arial"/>
              <a:sym typeface="Arial"/>
            </a:endParaRPr>
          </a:p>
        </p:txBody>
      </p:sp>
      <p:sp>
        <p:nvSpPr>
          <p:cNvPr id="186" name="Google Shape;186;p9"/>
          <p:cNvSpPr/>
          <p:nvPr/>
        </p:nvSpPr>
        <p:spPr>
          <a:xfrm>
            <a:off x="8275320" y="3392424"/>
            <a:ext cx="164592" cy="164592"/>
          </a:xfrm>
          <a:prstGeom prst="ellipse">
            <a:avLst/>
          </a:prstGeom>
          <a:solidFill>
            <a:srgbClr val="76B900"/>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9"/>
          <p:cNvSpPr/>
          <p:nvPr/>
        </p:nvSpPr>
        <p:spPr>
          <a:xfrm>
            <a:off x="8577072" y="3374136"/>
            <a:ext cx="25603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500"/>
              <a:buFont typeface="Arial"/>
              <a:buNone/>
            </a:pPr>
            <a:r>
              <a:rPr b="1" i="0" lang="en-US" sz="1500" u="none" cap="none" strike="noStrike">
                <a:solidFill>
                  <a:srgbClr val="111827"/>
                </a:solidFill>
                <a:latin typeface="Arial"/>
                <a:ea typeface="Arial"/>
                <a:cs typeface="Arial"/>
                <a:sym typeface="Arial"/>
              </a:rPr>
              <a:t>Instruction box</a:t>
            </a:r>
            <a:endParaRPr b="0" i="0" sz="1500" u="none" cap="none" strike="noStrike">
              <a:solidFill>
                <a:schemeClr val="dk1"/>
              </a:solidFill>
              <a:latin typeface="Arial"/>
              <a:ea typeface="Arial"/>
              <a:cs typeface="Arial"/>
              <a:sym typeface="Arial"/>
            </a:endParaRPr>
          </a:p>
        </p:txBody>
      </p:sp>
      <p:sp>
        <p:nvSpPr>
          <p:cNvPr id="188" name="Google Shape;188;p9"/>
          <p:cNvSpPr/>
          <p:nvPr/>
        </p:nvSpPr>
        <p:spPr>
          <a:xfrm>
            <a:off x="8577072" y="3630168"/>
            <a:ext cx="24231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Arial"/>
              <a:buNone/>
            </a:pPr>
            <a:r>
              <a:rPr b="0" i="0" lang="en-US" sz="1050" u="none" cap="none" strike="noStrike">
                <a:solidFill>
                  <a:srgbClr val="6B7280"/>
                </a:solidFill>
                <a:latin typeface="Arial"/>
                <a:ea typeface="Arial"/>
                <a:cs typeface="Arial"/>
                <a:sym typeface="Arial"/>
              </a:rPr>
              <a:t>what would you tell the driver?</a:t>
            </a:r>
            <a:endParaRPr b="0" i="0" sz="1050" u="none" cap="none" strike="noStrike">
              <a:solidFill>
                <a:schemeClr val="dk1"/>
              </a:solidFill>
              <a:latin typeface="Arial"/>
              <a:ea typeface="Arial"/>
              <a:cs typeface="Arial"/>
              <a:sym typeface="Arial"/>
            </a:endParaRPr>
          </a:p>
        </p:txBody>
      </p:sp>
      <p:sp>
        <p:nvSpPr>
          <p:cNvPr id="189" name="Google Shape;189;p9"/>
          <p:cNvSpPr/>
          <p:nvPr/>
        </p:nvSpPr>
        <p:spPr>
          <a:xfrm>
            <a:off x="8275320" y="4187952"/>
            <a:ext cx="164592" cy="164592"/>
          </a:xfrm>
          <a:prstGeom prst="ellipse">
            <a:avLst/>
          </a:prstGeom>
          <a:solidFill>
            <a:srgbClr val="76B900"/>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9"/>
          <p:cNvSpPr/>
          <p:nvPr/>
        </p:nvSpPr>
        <p:spPr>
          <a:xfrm>
            <a:off x="8577072" y="4169664"/>
            <a:ext cx="25603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500"/>
              <a:buFont typeface="Arial"/>
              <a:buNone/>
            </a:pPr>
            <a:r>
              <a:rPr b="1" i="0" lang="en-US" sz="1500" u="none" cap="none" strike="noStrike">
                <a:solidFill>
                  <a:srgbClr val="111827"/>
                </a:solidFill>
                <a:latin typeface="Arial"/>
                <a:ea typeface="Arial"/>
                <a:cs typeface="Arial"/>
                <a:sym typeface="Arial"/>
              </a:rPr>
              <a:t>Referential class</a:t>
            </a:r>
            <a:endParaRPr b="0" i="0" sz="1500" u="none" cap="none" strike="noStrike">
              <a:solidFill>
                <a:schemeClr val="dk1"/>
              </a:solidFill>
              <a:latin typeface="Arial"/>
              <a:ea typeface="Arial"/>
              <a:cs typeface="Arial"/>
              <a:sym typeface="Arial"/>
            </a:endParaRPr>
          </a:p>
        </p:txBody>
      </p:sp>
      <p:sp>
        <p:nvSpPr>
          <p:cNvPr id="191" name="Google Shape;191;p9"/>
          <p:cNvSpPr/>
          <p:nvPr/>
        </p:nvSpPr>
        <p:spPr>
          <a:xfrm>
            <a:off x="8577072" y="4425696"/>
            <a:ext cx="24231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Arial"/>
              <a:buNone/>
            </a:pPr>
            <a:r>
              <a:rPr b="0" i="0" lang="en-US" sz="1050" u="none" cap="none" strike="noStrike">
                <a:solidFill>
                  <a:srgbClr val="6B7280"/>
                </a:solidFill>
                <a:latin typeface="Arial"/>
                <a:ea typeface="Arial"/>
                <a:cs typeface="Arial"/>
                <a:sym typeface="Arial"/>
              </a:rPr>
              <a:t>non-referential, static, dynamic, combined</a:t>
            </a:r>
            <a:endParaRPr b="0" i="0" sz="1050" u="none" cap="none" strike="noStrike">
              <a:solidFill>
                <a:schemeClr val="dk1"/>
              </a:solidFill>
              <a:latin typeface="Arial"/>
              <a:ea typeface="Arial"/>
              <a:cs typeface="Arial"/>
              <a:sym typeface="Arial"/>
            </a:endParaRPr>
          </a:p>
        </p:txBody>
      </p:sp>
      <p:sp>
        <p:nvSpPr>
          <p:cNvPr id="192" name="Google Shape;192;p9"/>
          <p:cNvSpPr/>
          <p:nvPr/>
        </p:nvSpPr>
        <p:spPr>
          <a:xfrm>
            <a:off x="914400" y="5715000"/>
            <a:ext cx="6492240" cy="457200"/>
          </a:xfrm>
          <a:prstGeom prst="roundRect">
            <a:avLst>
              <a:gd fmla="val 24000" name="adj"/>
            </a:avLst>
          </a:prstGeom>
          <a:solidFill>
            <a:srgbClr val="111827"/>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9"/>
          <p:cNvSpPr/>
          <p:nvPr/>
        </p:nvSpPr>
        <p:spPr>
          <a:xfrm>
            <a:off x="1143000" y="5843016"/>
            <a:ext cx="6035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50"/>
              <a:buFont typeface="Arial"/>
              <a:buNone/>
            </a:pPr>
            <a:r>
              <a:rPr b="1" i="0" lang="en-US" sz="1150" u="none" cap="none" strike="noStrike">
                <a:solidFill>
                  <a:srgbClr val="FFFFFF"/>
                </a:solidFill>
                <a:latin typeface="Arial"/>
                <a:ea typeface="Arial"/>
                <a:cs typeface="Arial"/>
                <a:sym typeface="Arial"/>
              </a:rPr>
              <a:t>Prompt: “If you were being driven by a taxi driver, what instruction would you give?”</a:t>
            </a:r>
            <a:endParaRPr b="0" i="0" sz="1150" u="none" cap="none" strike="noStrike">
              <a:solidFill>
                <a:schemeClr val="dk1"/>
              </a:solidFill>
              <a:latin typeface="Arial"/>
              <a:ea typeface="Arial"/>
              <a:cs typeface="Arial"/>
              <a:sym typeface="Arial"/>
            </a:endParaRPr>
          </a:p>
        </p:txBody>
      </p:sp>
      <p:sp>
        <p:nvSpPr>
          <p:cNvPr id="194" name="Google Shape;194;p9"/>
          <p:cNvSpPr txBox="1"/>
          <p:nvPr>
            <p:ph idx="4294967295" type="sldNum"/>
          </p:nvPr>
        </p:nvSpPr>
        <p:spPr>
          <a:xfrm>
            <a:off x="11430000" y="6583680"/>
            <a:ext cx="8000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None/>
            </a:pPr>
            <a:fld id="{00000000-1234-1234-1234-123412341234}" type="slidenum">
              <a:rPr b="0" i="0" lang="en-US" sz="1200" u="none" cap="none" strike="noStrike">
                <a:solidFill>
                  <a:srgbClr val="6B7280"/>
                </a:solidFill>
                <a:latin typeface="Arial"/>
                <a:ea typeface="Arial"/>
                <a:cs typeface="Arial"/>
                <a:sym typeface="Arial"/>
              </a:rPr>
              <a:t>‹#›</a:t>
            </a:fld>
            <a:endParaRPr b="0" i="0" sz="1200" u="none" cap="none" strike="noStrike">
              <a:solidFill>
                <a:srgbClr val="6B7280"/>
              </a:solidFill>
              <a:latin typeface="Arial"/>
              <a:ea typeface="Arial"/>
              <a:cs typeface="Arial"/>
              <a:sym typeface="Arial"/>
            </a:endParaRPr>
          </a:p>
        </p:txBody>
      </p:sp>
      <p:pic>
        <p:nvPicPr>
          <p:cNvPr id="195" name="Google Shape;195;p9"/>
          <p:cNvPicPr preferRelativeResize="0"/>
          <p:nvPr/>
        </p:nvPicPr>
        <p:blipFill rotWithShape="1">
          <a:blip r:embed="rId3">
            <a:alphaModFix/>
          </a:blip>
          <a:srcRect b="0" l="0" r="0" t="0"/>
          <a:stretch/>
        </p:blipFill>
        <p:spPr>
          <a:xfrm>
            <a:off x="309050" y="1434363"/>
            <a:ext cx="7097601" cy="3943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0"/>
          <p:cNvSpPr/>
          <p:nvPr/>
        </p:nvSpPr>
        <p:spPr>
          <a:xfrm>
            <a:off x="566928" y="320040"/>
            <a:ext cx="27432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6B900"/>
              </a:buClr>
              <a:buSzPts val="1000"/>
              <a:buFont typeface="Arial"/>
              <a:buNone/>
            </a:pPr>
            <a:r>
              <a:rPr b="1" i="0" lang="en-US" sz="1000" u="none" cap="none" strike="noStrike">
                <a:solidFill>
                  <a:srgbClr val="76B900"/>
                </a:solidFill>
                <a:latin typeface="Arial"/>
                <a:ea typeface="Arial"/>
                <a:cs typeface="Arial"/>
                <a:sym typeface="Arial"/>
              </a:rPr>
              <a:t>MY ROLE</a:t>
            </a:r>
            <a:endParaRPr b="0" i="0" sz="1000" u="none" cap="none" strike="noStrike">
              <a:solidFill>
                <a:schemeClr val="dk1"/>
              </a:solidFill>
              <a:latin typeface="Arial"/>
              <a:ea typeface="Arial"/>
              <a:cs typeface="Arial"/>
              <a:sym typeface="Arial"/>
            </a:endParaRPr>
          </a:p>
        </p:txBody>
      </p:sp>
      <p:sp>
        <p:nvSpPr>
          <p:cNvPr id="202" name="Google Shape;202;p10"/>
          <p:cNvSpPr/>
          <p:nvPr/>
        </p:nvSpPr>
        <p:spPr>
          <a:xfrm>
            <a:off x="566928" y="594360"/>
            <a:ext cx="77724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3000"/>
              <a:buFont typeface="Arial"/>
              <a:buNone/>
            </a:pPr>
            <a:r>
              <a:rPr b="1" i="0" lang="en-US" sz="3000" u="none" cap="none" strike="noStrike">
                <a:solidFill>
                  <a:srgbClr val="111827"/>
                </a:solidFill>
                <a:latin typeface="Arial"/>
                <a:ea typeface="Arial"/>
                <a:cs typeface="Arial"/>
                <a:sym typeface="Arial"/>
              </a:rPr>
              <a:t>My annotation workflow</a:t>
            </a:r>
            <a:endParaRPr b="0" i="0" sz="3000" u="none" cap="none" strike="noStrike">
              <a:solidFill>
                <a:schemeClr val="dk1"/>
              </a:solidFill>
              <a:latin typeface="Arial"/>
              <a:ea typeface="Arial"/>
              <a:cs typeface="Arial"/>
              <a:sym typeface="Arial"/>
            </a:endParaRPr>
          </a:p>
        </p:txBody>
      </p:sp>
      <p:sp>
        <p:nvSpPr>
          <p:cNvPr id="203" name="Google Shape;203;p10"/>
          <p:cNvSpPr/>
          <p:nvPr/>
        </p:nvSpPr>
        <p:spPr>
          <a:xfrm>
            <a:off x="566928" y="1170432"/>
            <a:ext cx="914400" cy="54864"/>
          </a:xfrm>
          <a:prstGeom prst="rect">
            <a:avLst/>
          </a:prstGeom>
          <a:solidFill>
            <a:srgbClr val="76B900"/>
          </a:solidFill>
          <a:ln cap="flat" cmpd="sng" w="12700">
            <a:solidFill>
              <a:srgbClr val="76B9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0"/>
          <p:cNvSpPr/>
          <p:nvPr/>
        </p:nvSpPr>
        <p:spPr>
          <a:xfrm>
            <a:off x="685800" y="1828800"/>
            <a:ext cx="2212848" cy="2971800"/>
          </a:xfrm>
          <a:prstGeom prst="roundRect">
            <a:avLst>
              <a:gd fmla="val 5785"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0"/>
          <p:cNvSpPr/>
          <p:nvPr/>
        </p:nvSpPr>
        <p:spPr>
          <a:xfrm>
            <a:off x="914400" y="2148840"/>
            <a:ext cx="502920" cy="502920"/>
          </a:xfrm>
          <a:prstGeom prst="ellipse">
            <a:avLst/>
          </a:prstGeom>
          <a:solidFill>
            <a:srgbClr val="76B900"/>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0"/>
          <p:cNvSpPr/>
          <p:nvPr/>
        </p:nvSpPr>
        <p:spPr>
          <a:xfrm>
            <a:off x="914400" y="2267712"/>
            <a:ext cx="50292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50"/>
              <a:buFont typeface="Arial"/>
              <a:buNone/>
            </a:pPr>
            <a:r>
              <a:rPr b="1" i="0" lang="en-US" sz="1350" u="none" cap="none" strike="noStrike">
                <a:solidFill>
                  <a:srgbClr val="FFFFFF"/>
                </a:solidFill>
                <a:latin typeface="Arial"/>
                <a:ea typeface="Arial"/>
                <a:cs typeface="Arial"/>
                <a:sym typeface="Arial"/>
              </a:rPr>
              <a:t>1</a:t>
            </a:r>
            <a:endParaRPr b="0" i="0" sz="1350" u="none" cap="none" strike="noStrike">
              <a:solidFill>
                <a:schemeClr val="dk1"/>
              </a:solidFill>
              <a:latin typeface="Arial"/>
              <a:ea typeface="Arial"/>
              <a:cs typeface="Arial"/>
              <a:sym typeface="Arial"/>
            </a:endParaRPr>
          </a:p>
        </p:txBody>
      </p:sp>
      <p:sp>
        <p:nvSpPr>
          <p:cNvPr id="207" name="Google Shape;207;p10"/>
          <p:cNvSpPr/>
          <p:nvPr/>
        </p:nvSpPr>
        <p:spPr>
          <a:xfrm>
            <a:off x="914400" y="2852928"/>
            <a:ext cx="1874520" cy="41148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111827"/>
              </a:buClr>
              <a:buSzPts val="1700"/>
              <a:buFont typeface="Arial"/>
              <a:buNone/>
            </a:pPr>
            <a:r>
              <a:rPr b="1" i="0" lang="en-US" sz="1700" u="none" cap="none" strike="noStrike">
                <a:solidFill>
                  <a:srgbClr val="111827"/>
                </a:solidFill>
                <a:latin typeface="Arial"/>
                <a:ea typeface="Arial"/>
                <a:cs typeface="Arial"/>
                <a:sym typeface="Arial"/>
              </a:rPr>
              <a:t>Watch the clip</a:t>
            </a:r>
            <a:endParaRPr b="0" i="0" sz="1700" u="none" cap="none" strike="noStrike">
              <a:solidFill>
                <a:schemeClr val="dk1"/>
              </a:solidFill>
              <a:latin typeface="Arial"/>
              <a:ea typeface="Arial"/>
              <a:cs typeface="Arial"/>
              <a:sym typeface="Arial"/>
            </a:endParaRPr>
          </a:p>
        </p:txBody>
      </p:sp>
      <p:sp>
        <p:nvSpPr>
          <p:cNvPr id="208" name="Google Shape;208;p10"/>
          <p:cNvSpPr/>
          <p:nvPr/>
        </p:nvSpPr>
        <p:spPr>
          <a:xfrm>
            <a:off x="1005840" y="3493008"/>
            <a:ext cx="1700784" cy="530352"/>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6B7280"/>
              </a:buClr>
              <a:buSzPts val="1220"/>
              <a:buFont typeface="Arial"/>
              <a:buNone/>
            </a:pPr>
            <a:r>
              <a:rPr b="0" i="0" lang="en-US" sz="1220" u="none" cap="none" strike="noStrike">
                <a:solidFill>
                  <a:srgbClr val="6B7280"/>
                </a:solidFill>
                <a:latin typeface="Arial"/>
                <a:ea typeface="Arial"/>
                <a:cs typeface="Arial"/>
                <a:sym typeface="Arial"/>
              </a:rPr>
              <a:t>Observe the full driving segment</a:t>
            </a:r>
            <a:endParaRPr b="0" i="0" sz="1220" u="none" cap="none" strike="noStrike">
              <a:solidFill>
                <a:schemeClr val="dk1"/>
              </a:solidFill>
              <a:latin typeface="Arial"/>
              <a:ea typeface="Arial"/>
              <a:cs typeface="Arial"/>
              <a:sym typeface="Arial"/>
            </a:endParaRPr>
          </a:p>
        </p:txBody>
      </p:sp>
      <p:sp>
        <p:nvSpPr>
          <p:cNvPr id="209" name="Google Shape;209;p10"/>
          <p:cNvSpPr/>
          <p:nvPr/>
        </p:nvSpPr>
        <p:spPr>
          <a:xfrm>
            <a:off x="3017520" y="3127248"/>
            <a:ext cx="256032" cy="256032"/>
          </a:xfrm>
          <a:prstGeom prst="chevron">
            <a:avLst>
              <a:gd fmla="val 50000" name="adj"/>
            </a:avLst>
          </a:prstGeom>
          <a:solidFill>
            <a:srgbClr val="CBD5E1"/>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0"/>
          <p:cNvSpPr/>
          <p:nvPr/>
        </p:nvSpPr>
        <p:spPr>
          <a:xfrm>
            <a:off x="3474720" y="1828800"/>
            <a:ext cx="2212848" cy="2971800"/>
          </a:xfrm>
          <a:prstGeom prst="roundRect">
            <a:avLst>
              <a:gd fmla="val 5785"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0"/>
          <p:cNvSpPr/>
          <p:nvPr/>
        </p:nvSpPr>
        <p:spPr>
          <a:xfrm>
            <a:off x="3703320" y="2148840"/>
            <a:ext cx="502920" cy="502920"/>
          </a:xfrm>
          <a:prstGeom prst="ellipse">
            <a:avLst/>
          </a:prstGeom>
          <a:solidFill>
            <a:srgbClr val="76B900"/>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0"/>
          <p:cNvSpPr/>
          <p:nvPr/>
        </p:nvSpPr>
        <p:spPr>
          <a:xfrm>
            <a:off x="3703320" y="2267712"/>
            <a:ext cx="50292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50"/>
              <a:buFont typeface="Arial"/>
              <a:buNone/>
            </a:pPr>
            <a:r>
              <a:rPr b="1" i="0" lang="en-US" sz="1350" u="none" cap="none" strike="noStrike">
                <a:solidFill>
                  <a:srgbClr val="FFFFFF"/>
                </a:solidFill>
                <a:latin typeface="Arial"/>
                <a:ea typeface="Arial"/>
                <a:cs typeface="Arial"/>
                <a:sym typeface="Arial"/>
              </a:rPr>
              <a:t>2</a:t>
            </a:r>
            <a:endParaRPr b="0" i="0" sz="1350" u="none" cap="none" strike="noStrike">
              <a:solidFill>
                <a:schemeClr val="dk1"/>
              </a:solidFill>
              <a:latin typeface="Arial"/>
              <a:ea typeface="Arial"/>
              <a:cs typeface="Arial"/>
              <a:sym typeface="Arial"/>
            </a:endParaRPr>
          </a:p>
        </p:txBody>
      </p:sp>
      <p:sp>
        <p:nvSpPr>
          <p:cNvPr id="213" name="Google Shape;213;p10"/>
          <p:cNvSpPr/>
          <p:nvPr/>
        </p:nvSpPr>
        <p:spPr>
          <a:xfrm>
            <a:off x="3703320" y="2852928"/>
            <a:ext cx="1874520" cy="41148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111827"/>
              </a:buClr>
              <a:buSzPts val="1700"/>
              <a:buFont typeface="Arial"/>
              <a:buNone/>
            </a:pPr>
            <a:r>
              <a:rPr b="1" i="0" lang="en-US" sz="1700" u="none" cap="none" strike="noStrike">
                <a:solidFill>
                  <a:srgbClr val="111827"/>
                </a:solidFill>
                <a:latin typeface="Arial"/>
                <a:ea typeface="Arial"/>
                <a:cs typeface="Arial"/>
                <a:sym typeface="Arial"/>
              </a:rPr>
              <a:t>Think like a passenger</a:t>
            </a:r>
            <a:endParaRPr b="0" i="0" sz="1700" u="none" cap="none" strike="noStrike">
              <a:solidFill>
                <a:schemeClr val="dk1"/>
              </a:solidFill>
              <a:latin typeface="Arial"/>
              <a:ea typeface="Arial"/>
              <a:cs typeface="Arial"/>
              <a:sym typeface="Arial"/>
            </a:endParaRPr>
          </a:p>
        </p:txBody>
      </p:sp>
      <p:sp>
        <p:nvSpPr>
          <p:cNvPr id="214" name="Google Shape;214;p10"/>
          <p:cNvSpPr/>
          <p:nvPr/>
        </p:nvSpPr>
        <p:spPr>
          <a:xfrm>
            <a:off x="3794760" y="3493008"/>
            <a:ext cx="1700784" cy="530352"/>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6B7280"/>
              </a:buClr>
              <a:buSzPts val="1220"/>
              <a:buFont typeface="Arial"/>
              <a:buNone/>
            </a:pPr>
            <a:r>
              <a:rPr b="0" i="0" lang="en-US" sz="1220" u="none" cap="none" strike="noStrike">
                <a:solidFill>
                  <a:srgbClr val="6B7280"/>
                </a:solidFill>
                <a:latin typeface="Arial"/>
                <a:ea typeface="Arial"/>
                <a:cs typeface="Arial"/>
                <a:sym typeface="Arial"/>
              </a:rPr>
              <a:t>What would I say to the driver?</a:t>
            </a:r>
            <a:endParaRPr b="0" i="0" sz="1220" u="none" cap="none" strike="noStrike">
              <a:solidFill>
                <a:schemeClr val="dk1"/>
              </a:solidFill>
              <a:latin typeface="Arial"/>
              <a:ea typeface="Arial"/>
              <a:cs typeface="Arial"/>
              <a:sym typeface="Arial"/>
            </a:endParaRPr>
          </a:p>
        </p:txBody>
      </p:sp>
      <p:sp>
        <p:nvSpPr>
          <p:cNvPr id="215" name="Google Shape;215;p10"/>
          <p:cNvSpPr/>
          <p:nvPr/>
        </p:nvSpPr>
        <p:spPr>
          <a:xfrm>
            <a:off x="5806440" y="3127248"/>
            <a:ext cx="256032" cy="256032"/>
          </a:xfrm>
          <a:prstGeom prst="chevron">
            <a:avLst>
              <a:gd fmla="val 50000" name="adj"/>
            </a:avLst>
          </a:prstGeom>
          <a:solidFill>
            <a:srgbClr val="CBD5E1"/>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0"/>
          <p:cNvSpPr/>
          <p:nvPr/>
        </p:nvSpPr>
        <p:spPr>
          <a:xfrm>
            <a:off x="6263640" y="1828800"/>
            <a:ext cx="2212848" cy="2971800"/>
          </a:xfrm>
          <a:prstGeom prst="roundRect">
            <a:avLst>
              <a:gd fmla="val 5785"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0"/>
          <p:cNvSpPr/>
          <p:nvPr/>
        </p:nvSpPr>
        <p:spPr>
          <a:xfrm>
            <a:off x="6492240" y="2148840"/>
            <a:ext cx="502920" cy="502920"/>
          </a:xfrm>
          <a:prstGeom prst="ellipse">
            <a:avLst/>
          </a:prstGeom>
          <a:solidFill>
            <a:srgbClr val="76B900"/>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0"/>
          <p:cNvSpPr/>
          <p:nvPr/>
        </p:nvSpPr>
        <p:spPr>
          <a:xfrm>
            <a:off x="6492240" y="2267712"/>
            <a:ext cx="50292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50"/>
              <a:buFont typeface="Arial"/>
              <a:buNone/>
            </a:pPr>
            <a:r>
              <a:rPr b="1" i="0" lang="en-US" sz="1350" u="none" cap="none" strike="noStrike">
                <a:solidFill>
                  <a:srgbClr val="FFFFFF"/>
                </a:solidFill>
                <a:latin typeface="Arial"/>
                <a:ea typeface="Arial"/>
                <a:cs typeface="Arial"/>
                <a:sym typeface="Arial"/>
              </a:rPr>
              <a:t>3</a:t>
            </a:r>
            <a:endParaRPr b="0" i="0" sz="1350" u="none" cap="none" strike="noStrike">
              <a:solidFill>
                <a:schemeClr val="dk1"/>
              </a:solidFill>
              <a:latin typeface="Arial"/>
              <a:ea typeface="Arial"/>
              <a:cs typeface="Arial"/>
              <a:sym typeface="Arial"/>
            </a:endParaRPr>
          </a:p>
        </p:txBody>
      </p:sp>
      <p:sp>
        <p:nvSpPr>
          <p:cNvPr id="219" name="Google Shape;219;p10"/>
          <p:cNvSpPr/>
          <p:nvPr/>
        </p:nvSpPr>
        <p:spPr>
          <a:xfrm>
            <a:off x="6492240" y="2852928"/>
            <a:ext cx="1874520" cy="41148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111827"/>
              </a:buClr>
              <a:buSzPts val="1700"/>
              <a:buFont typeface="Arial"/>
              <a:buNone/>
            </a:pPr>
            <a:r>
              <a:rPr b="1" i="0" lang="en-US" sz="1700" u="none" cap="none" strike="noStrike">
                <a:solidFill>
                  <a:srgbClr val="111827"/>
                </a:solidFill>
                <a:latin typeface="Arial"/>
                <a:ea typeface="Arial"/>
                <a:cs typeface="Arial"/>
                <a:sym typeface="Arial"/>
              </a:rPr>
              <a:t>Write the instruction</a:t>
            </a:r>
            <a:endParaRPr b="0" i="0" sz="1700" u="none" cap="none" strike="noStrike">
              <a:solidFill>
                <a:schemeClr val="dk1"/>
              </a:solidFill>
              <a:latin typeface="Arial"/>
              <a:ea typeface="Arial"/>
              <a:cs typeface="Arial"/>
              <a:sym typeface="Arial"/>
            </a:endParaRPr>
          </a:p>
        </p:txBody>
      </p:sp>
      <p:sp>
        <p:nvSpPr>
          <p:cNvPr id="220" name="Google Shape;220;p10"/>
          <p:cNvSpPr/>
          <p:nvPr/>
        </p:nvSpPr>
        <p:spPr>
          <a:xfrm>
            <a:off x="6583680" y="3493008"/>
            <a:ext cx="1700784" cy="530352"/>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6B7280"/>
              </a:buClr>
              <a:buSzPts val="1220"/>
              <a:buFont typeface="Arial"/>
              <a:buNone/>
            </a:pPr>
            <a:r>
              <a:rPr b="0" i="0" lang="en-US" sz="1220" u="none" cap="none" strike="noStrike">
                <a:solidFill>
                  <a:srgbClr val="6B7280"/>
                </a:solidFill>
                <a:latin typeface="Arial"/>
                <a:ea typeface="Arial"/>
                <a:cs typeface="Arial"/>
                <a:sym typeface="Arial"/>
              </a:rPr>
              <a:t>Using natural language</a:t>
            </a:r>
            <a:endParaRPr b="0" i="0" sz="1220" u="none" cap="none" strike="noStrike">
              <a:solidFill>
                <a:schemeClr val="dk1"/>
              </a:solidFill>
              <a:latin typeface="Arial"/>
              <a:ea typeface="Arial"/>
              <a:cs typeface="Arial"/>
              <a:sym typeface="Arial"/>
            </a:endParaRPr>
          </a:p>
        </p:txBody>
      </p:sp>
      <p:sp>
        <p:nvSpPr>
          <p:cNvPr id="221" name="Google Shape;221;p10"/>
          <p:cNvSpPr/>
          <p:nvPr/>
        </p:nvSpPr>
        <p:spPr>
          <a:xfrm>
            <a:off x="8595360" y="3127248"/>
            <a:ext cx="256032" cy="256032"/>
          </a:xfrm>
          <a:prstGeom prst="chevron">
            <a:avLst>
              <a:gd fmla="val 50000" name="adj"/>
            </a:avLst>
          </a:prstGeom>
          <a:solidFill>
            <a:srgbClr val="CBD5E1"/>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0"/>
          <p:cNvSpPr/>
          <p:nvPr/>
        </p:nvSpPr>
        <p:spPr>
          <a:xfrm>
            <a:off x="9052560" y="1828800"/>
            <a:ext cx="2212848" cy="2971800"/>
          </a:xfrm>
          <a:prstGeom prst="roundRect">
            <a:avLst>
              <a:gd fmla="val 5785"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0"/>
          <p:cNvSpPr/>
          <p:nvPr/>
        </p:nvSpPr>
        <p:spPr>
          <a:xfrm>
            <a:off x="9281160" y="2148840"/>
            <a:ext cx="502920" cy="502920"/>
          </a:xfrm>
          <a:prstGeom prst="ellipse">
            <a:avLst/>
          </a:prstGeom>
          <a:solidFill>
            <a:srgbClr val="76B900"/>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0"/>
          <p:cNvSpPr/>
          <p:nvPr/>
        </p:nvSpPr>
        <p:spPr>
          <a:xfrm>
            <a:off x="9281160" y="2267712"/>
            <a:ext cx="50292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50"/>
              <a:buFont typeface="Arial"/>
              <a:buNone/>
            </a:pPr>
            <a:r>
              <a:rPr b="1" i="0" lang="en-US" sz="1350" u="none" cap="none" strike="noStrike">
                <a:solidFill>
                  <a:srgbClr val="FFFFFF"/>
                </a:solidFill>
                <a:latin typeface="Arial"/>
                <a:ea typeface="Arial"/>
                <a:cs typeface="Arial"/>
                <a:sym typeface="Arial"/>
              </a:rPr>
              <a:t>4</a:t>
            </a:r>
            <a:endParaRPr b="0" i="0" sz="1350" u="none" cap="none" strike="noStrike">
              <a:solidFill>
                <a:schemeClr val="dk1"/>
              </a:solidFill>
              <a:latin typeface="Arial"/>
              <a:ea typeface="Arial"/>
              <a:cs typeface="Arial"/>
              <a:sym typeface="Arial"/>
            </a:endParaRPr>
          </a:p>
        </p:txBody>
      </p:sp>
      <p:sp>
        <p:nvSpPr>
          <p:cNvPr id="225" name="Google Shape;225;p10"/>
          <p:cNvSpPr/>
          <p:nvPr/>
        </p:nvSpPr>
        <p:spPr>
          <a:xfrm>
            <a:off x="9281160" y="2852928"/>
            <a:ext cx="1874520" cy="41148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111827"/>
              </a:buClr>
              <a:buSzPts val="1700"/>
              <a:buFont typeface="Arial"/>
              <a:buNone/>
            </a:pPr>
            <a:r>
              <a:rPr b="1" i="0" lang="en-US" sz="1700" u="none" cap="none" strike="noStrike">
                <a:solidFill>
                  <a:srgbClr val="111827"/>
                </a:solidFill>
                <a:latin typeface="Arial"/>
                <a:ea typeface="Arial"/>
                <a:cs typeface="Arial"/>
                <a:sym typeface="Arial"/>
              </a:rPr>
              <a:t>Assign a tag</a:t>
            </a:r>
            <a:endParaRPr b="0" i="0" sz="1700" u="none" cap="none" strike="noStrike">
              <a:solidFill>
                <a:schemeClr val="dk1"/>
              </a:solidFill>
              <a:latin typeface="Arial"/>
              <a:ea typeface="Arial"/>
              <a:cs typeface="Arial"/>
              <a:sym typeface="Arial"/>
            </a:endParaRPr>
          </a:p>
        </p:txBody>
      </p:sp>
      <p:sp>
        <p:nvSpPr>
          <p:cNvPr id="226" name="Google Shape;226;p10"/>
          <p:cNvSpPr/>
          <p:nvPr/>
        </p:nvSpPr>
        <p:spPr>
          <a:xfrm>
            <a:off x="9372600" y="3493008"/>
            <a:ext cx="1700784" cy="530352"/>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6B7280"/>
              </a:buClr>
              <a:buSzPts val="1220"/>
              <a:buFont typeface="Arial"/>
              <a:buNone/>
            </a:pPr>
            <a:r>
              <a:rPr b="0" i="0" lang="en-US" sz="1220" u="none" cap="none" strike="noStrike">
                <a:solidFill>
                  <a:srgbClr val="6B7280"/>
                </a:solidFill>
                <a:latin typeface="Arial"/>
                <a:ea typeface="Arial"/>
                <a:cs typeface="Arial"/>
                <a:sym typeface="Arial"/>
              </a:rPr>
              <a:t>Choose the referential class</a:t>
            </a:r>
            <a:endParaRPr b="0" i="0" sz="1220" u="none" cap="none" strike="noStrike">
              <a:solidFill>
                <a:schemeClr val="dk1"/>
              </a:solidFill>
              <a:latin typeface="Arial"/>
              <a:ea typeface="Arial"/>
              <a:cs typeface="Arial"/>
              <a:sym typeface="Arial"/>
            </a:endParaRPr>
          </a:p>
        </p:txBody>
      </p:sp>
      <p:sp>
        <p:nvSpPr>
          <p:cNvPr id="227" name="Google Shape;227;p10"/>
          <p:cNvSpPr txBox="1"/>
          <p:nvPr>
            <p:ph idx="4294967295" type="sldNum"/>
          </p:nvPr>
        </p:nvSpPr>
        <p:spPr>
          <a:xfrm>
            <a:off x="11430000" y="6583680"/>
            <a:ext cx="8000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None/>
            </a:pPr>
            <a:fld id="{00000000-1234-1234-1234-123412341234}" type="slidenum">
              <a:rPr b="0" i="0" lang="en-US" sz="1200" u="none" cap="none" strike="noStrike">
                <a:solidFill>
                  <a:srgbClr val="6B7280"/>
                </a:solidFill>
                <a:latin typeface="Arial"/>
                <a:ea typeface="Arial"/>
                <a:cs typeface="Arial"/>
                <a:sym typeface="Arial"/>
              </a:rPr>
              <a:t>‹#›</a:t>
            </a:fld>
            <a:endParaRPr b="0" i="0" sz="1200" u="none" cap="none" strike="noStrike">
              <a:solidFill>
                <a:srgbClr val="6B728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1"/>
          <p:cNvSpPr/>
          <p:nvPr/>
        </p:nvSpPr>
        <p:spPr>
          <a:xfrm>
            <a:off x="566928" y="320040"/>
            <a:ext cx="27432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6B900"/>
              </a:buClr>
              <a:buSzPts val="1000"/>
              <a:buFont typeface="Arial"/>
              <a:buNone/>
            </a:pPr>
            <a:r>
              <a:rPr b="1" i="0" lang="en-US" sz="1000" u="none" cap="none" strike="noStrike">
                <a:solidFill>
                  <a:srgbClr val="76B900"/>
                </a:solidFill>
                <a:latin typeface="Arial"/>
                <a:ea typeface="Arial"/>
                <a:cs typeface="Arial"/>
                <a:sym typeface="Arial"/>
              </a:rPr>
              <a:t>ANNOTATION PHILOSOPHY</a:t>
            </a:r>
            <a:endParaRPr b="0" i="0" sz="1000" u="none" cap="none" strike="noStrike">
              <a:solidFill>
                <a:schemeClr val="dk1"/>
              </a:solidFill>
              <a:latin typeface="Arial"/>
              <a:ea typeface="Arial"/>
              <a:cs typeface="Arial"/>
              <a:sym typeface="Arial"/>
            </a:endParaRPr>
          </a:p>
        </p:txBody>
      </p:sp>
      <p:sp>
        <p:nvSpPr>
          <p:cNvPr id="234" name="Google Shape;234;p11"/>
          <p:cNvSpPr/>
          <p:nvPr/>
        </p:nvSpPr>
        <p:spPr>
          <a:xfrm>
            <a:off x="566928" y="594360"/>
            <a:ext cx="77724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3000"/>
              <a:buFont typeface="Arial"/>
              <a:buNone/>
            </a:pPr>
            <a:r>
              <a:rPr b="1" i="0" lang="en-US" sz="3000" u="none" cap="none" strike="noStrike">
                <a:solidFill>
                  <a:srgbClr val="111827"/>
                </a:solidFill>
                <a:latin typeface="Arial"/>
                <a:ea typeface="Arial"/>
                <a:cs typeface="Arial"/>
                <a:sym typeface="Arial"/>
              </a:rPr>
              <a:t>Instruction, not description</a:t>
            </a:r>
            <a:endParaRPr b="0" i="0" sz="3000" u="none" cap="none" strike="noStrike">
              <a:solidFill>
                <a:schemeClr val="dk1"/>
              </a:solidFill>
              <a:latin typeface="Arial"/>
              <a:ea typeface="Arial"/>
              <a:cs typeface="Arial"/>
              <a:sym typeface="Arial"/>
            </a:endParaRPr>
          </a:p>
        </p:txBody>
      </p:sp>
      <p:sp>
        <p:nvSpPr>
          <p:cNvPr id="235" name="Google Shape;235;p11"/>
          <p:cNvSpPr/>
          <p:nvPr/>
        </p:nvSpPr>
        <p:spPr>
          <a:xfrm>
            <a:off x="566928" y="1170432"/>
            <a:ext cx="914400" cy="54864"/>
          </a:xfrm>
          <a:prstGeom prst="rect">
            <a:avLst/>
          </a:prstGeom>
          <a:solidFill>
            <a:srgbClr val="76B900"/>
          </a:solidFill>
          <a:ln cap="flat" cmpd="sng" w="12700">
            <a:solidFill>
              <a:srgbClr val="76B9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1"/>
          <p:cNvSpPr/>
          <p:nvPr/>
        </p:nvSpPr>
        <p:spPr>
          <a:xfrm>
            <a:off x="731520" y="1325880"/>
            <a:ext cx="7589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800"/>
              <a:buFont typeface="Arial"/>
              <a:buNone/>
            </a:pPr>
            <a:r>
              <a:rPr b="0" i="0" lang="en-US" sz="1800" u="none" cap="none" strike="noStrike">
                <a:solidFill>
                  <a:srgbClr val="6B7280"/>
                </a:solidFill>
                <a:latin typeface="Arial"/>
                <a:ea typeface="Arial"/>
                <a:cs typeface="Arial"/>
                <a:sym typeface="Arial"/>
              </a:rPr>
              <a:t>The output should sound like something a passenger would say.</a:t>
            </a:r>
            <a:endParaRPr b="0" i="0" sz="1800" u="none" cap="none" strike="noStrike">
              <a:solidFill>
                <a:schemeClr val="dk1"/>
              </a:solidFill>
              <a:latin typeface="Arial"/>
              <a:ea typeface="Arial"/>
              <a:cs typeface="Arial"/>
              <a:sym typeface="Arial"/>
            </a:endParaRPr>
          </a:p>
        </p:txBody>
      </p:sp>
      <p:sp>
        <p:nvSpPr>
          <p:cNvPr id="237" name="Google Shape;237;p11"/>
          <p:cNvSpPr/>
          <p:nvPr/>
        </p:nvSpPr>
        <p:spPr>
          <a:xfrm>
            <a:off x="822960" y="1874520"/>
            <a:ext cx="5074920" cy="3840480"/>
          </a:xfrm>
          <a:prstGeom prst="roundRect">
            <a:avLst>
              <a:gd fmla="val 3333" name="adj"/>
            </a:avLst>
          </a:prstGeom>
          <a:solidFill>
            <a:srgbClr val="FEF2F2"/>
          </a:solidFill>
          <a:ln cap="flat" cmpd="sng" w="12700">
            <a:solidFill>
              <a:srgbClr val="FC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1"/>
          <p:cNvSpPr/>
          <p:nvPr/>
        </p:nvSpPr>
        <p:spPr>
          <a:xfrm>
            <a:off x="6309360" y="1874520"/>
            <a:ext cx="5074920" cy="3840480"/>
          </a:xfrm>
          <a:prstGeom prst="roundRect">
            <a:avLst>
              <a:gd fmla="val 3333" name="adj"/>
            </a:avLst>
          </a:prstGeom>
          <a:solidFill>
            <a:srgbClr val="ECFDF5"/>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11"/>
          <p:cNvSpPr/>
          <p:nvPr/>
        </p:nvSpPr>
        <p:spPr>
          <a:xfrm>
            <a:off x="1143000" y="2148840"/>
            <a:ext cx="23774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900"/>
              <a:buFont typeface="Arial"/>
              <a:buNone/>
            </a:pPr>
            <a:r>
              <a:rPr b="1" i="0" lang="en-US" sz="1900" u="none" cap="none" strike="noStrike">
                <a:solidFill>
                  <a:srgbClr val="EF4444"/>
                </a:solidFill>
                <a:latin typeface="Arial"/>
                <a:ea typeface="Arial"/>
                <a:cs typeface="Arial"/>
                <a:sym typeface="Arial"/>
              </a:rPr>
              <a:t>Descriptions</a:t>
            </a:r>
            <a:endParaRPr b="0" i="0" sz="1900" u="none" cap="none" strike="noStrike">
              <a:solidFill>
                <a:schemeClr val="dk1"/>
              </a:solidFill>
              <a:latin typeface="Arial"/>
              <a:ea typeface="Arial"/>
              <a:cs typeface="Arial"/>
              <a:sym typeface="Arial"/>
            </a:endParaRPr>
          </a:p>
        </p:txBody>
      </p:sp>
      <p:sp>
        <p:nvSpPr>
          <p:cNvPr id="240" name="Google Shape;240;p11"/>
          <p:cNvSpPr/>
          <p:nvPr/>
        </p:nvSpPr>
        <p:spPr>
          <a:xfrm>
            <a:off x="6629400" y="2148840"/>
            <a:ext cx="23774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6B900"/>
              </a:buClr>
              <a:buSzPts val="1900"/>
              <a:buFont typeface="Arial"/>
              <a:buNone/>
            </a:pPr>
            <a:r>
              <a:rPr b="1" i="0" lang="en-US" sz="1900" u="none" cap="none" strike="noStrike">
                <a:solidFill>
                  <a:srgbClr val="76B900"/>
                </a:solidFill>
                <a:latin typeface="Arial"/>
                <a:ea typeface="Arial"/>
                <a:cs typeface="Arial"/>
                <a:sym typeface="Arial"/>
              </a:rPr>
              <a:t>Instructions</a:t>
            </a:r>
            <a:endParaRPr b="0" i="0" sz="1900" u="none" cap="none" strike="noStrike">
              <a:solidFill>
                <a:schemeClr val="dk1"/>
              </a:solidFill>
              <a:latin typeface="Arial"/>
              <a:ea typeface="Arial"/>
              <a:cs typeface="Arial"/>
              <a:sym typeface="Arial"/>
            </a:endParaRPr>
          </a:p>
        </p:txBody>
      </p:sp>
      <p:sp>
        <p:nvSpPr>
          <p:cNvPr id="241" name="Google Shape;241;p11"/>
          <p:cNvSpPr/>
          <p:nvPr/>
        </p:nvSpPr>
        <p:spPr>
          <a:xfrm>
            <a:off x="1143000" y="2788920"/>
            <a:ext cx="2286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700"/>
              <a:buFont typeface="Arial"/>
              <a:buNone/>
            </a:pPr>
            <a:r>
              <a:rPr b="1" i="0" lang="en-US" sz="1700" u="none" cap="none" strike="noStrike">
                <a:solidFill>
                  <a:srgbClr val="EF4444"/>
                </a:solidFill>
                <a:latin typeface="Arial"/>
                <a:ea typeface="Arial"/>
                <a:cs typeface="Arial"/>
                <a:sym typeface="Arial"/>
              </a:rPr>
              <a:t>✕</a:t>
            </a:r>
            <a:endParaRPr b="0" i="0" sz="1700" u="none" cap="none" strike="noStrike">
              <a:solidFill>
                <a:schemeClr val="dk1"/>
              </a:solidFill>
              <a:latin typeface="Arial"/>
              <a:ea typeface="Arial"/>
              <a:cs typeface="Arial"/>
              <a:sym typeface="Arial"/>
            </a:endParaRPr>
          </a:p>
        </p:txBody>
      </p:sp>
      <p:sp>
        <p:nvSpPr>
          <p:cNvPr id="242" name="Google Shape;242;p11"/>
          <p:cNvSpPr/>
          <p:nvPr/>
        </p:nvSpPr>
        <p:spPr>
          <a:xfrm>
            <a:off x="1508760" y="2770632"/>
            <a:ext cx="34747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000"/>
              <a:buFont typeface="Arial"/>
              <a:buNone/>
            </a:pPr>
            <a:r>
              <a:rPr b="0" i="0" lang="en-US" sz="2000" u="none" cap="none" strike="noStrike">
                <a:solidFill>
                  <a:srgbClr val="111827"/>
                </a:solidFill>
                <a:latin typeface="Arial"/>
                <a:ea typeface="Arial"/>
                <a:cs typeface="Arial"/>
                <a:sym typeface="Arial"/>
              </a:rPr>
              <a:t>The car turns left.</a:t>
            </a:r>
            <a:endParaRPr b="0" i="0" sz="2000" u="none" cap="none" strike="noStrike">
              <a:solidFill>
                <a:schemeClr val="dk1"/>
              </a:solidFill>
              <a:latin typeface="Arial"/>
              <a:ea typeface="Arial"/>
              <a:cs typeface="Arial"/>
              <a:sym typeface="Arial"/>
            </a:endParaRPr>
          </a:p>
        </p:txBody>
      </p:sp>
      <p:sp>
        <p:nvSpPr>
          <p:cNvPr id="243" name="Google Shape;243;p11"/>
          <p:cNvSpPr/>
          <p:nvPr/>
        </p:nvSpPr>
        <p:spPr>
          <a:xfrm>
            <a:off x="1143000" y="3520440"/>
            <a:ext cx="2286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700"/>
              <a:buFont typeface="Arial"/>
              <a:buNone/>
            </a:pPr>
            <a:r>
              <a:rPr b="1" i="0" lang="en-US" sz="1700" u="none" cap="none" strike="noStrike">
                <a:solidFill>
                  <a:srgbClr val="EF4444"/>
                </a:solidFill>
                <a:latin typeface="Arial"/>
                <a:ea typeface="Arial"/>
                <a:cs typeface="Arial"/>
                <a:sym typeface="Arial"/>
              </a:rPr>
              <a:t>✕</a:t>
            </a:r>
            <a:endParaRPr b="0" i="0" sz="1700" u="none" cap="none" strike="noStrike">
              <a:solidFill>
                <a:schemeClr val="dk1"/>
              </a:solidFill>
              <a:latin typeface="Arial"/>
              <a:ea typeface="Arial"/>
              <a:cs typeface="Arial"/>
              <a:sym typeface="Arial"/>
            </a:endParaRPr>
          </a:p>
        </p:txBody>
      </p:sp>
      <p:sp>
        <p:nvSpPr>
          <p:cNvPr id="244" name="Google Shape;244;p11"/>
          <p:cNvSpPr/>
          <p:nvPr/>
        </p:nvSpPr>
        <p:spPr>
          <a:xfrm>
            <a:off x="1508760" y="3502152"/>
            <a:ext cx="34747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000"/>
              <a:buFont typeface="Arial"/>
              <a:buNone/>
            </a:pPr>
            <a:r>
              <a:rPr b="0" i="0" lang="en-US" sz="2000" u="none" cap="none" strike="noStrike">
                <a:solidFill>
                  <a:srgbClr val="111827"/>
                </a:solidFill>
                <a:latin typeface="Arial"/>
                <a:ea typeface="Arial"/>
                <a:cs typeface="Arial"/>
                <a:sym typeface="Arial"/>
              </a:rPr>
              <a:t>The vehicle slows down.</a:t>
            </a:r>
            <a:endParaRPr b="0" i="0" sz="2000" u="none" cap="none" strike="noStrike">
              <a:solidFill>
                <a:schemeClr val="dk1"/>
              </a:solidFill>
              <a:latin typeface="Arial"/>
              <a:ea typeface="Arial"/>
              <a:cs typeface="Arial"/>
              <a:sym typeface="Arial"/>
            </a:endParaRPr>
          </a:p>
        </p:txBody>
      </p:sp>
      <p:sp>
        <p:nvSpPr>
          <p:cNvPr id="245" name="Google Shape;245;p11"/>
          <p:cNvSpPr/>
          <p:nvPr/>
        </p:nvSpPr>
        <p:spPr>
          <a:xfrm>
            <a:off x="1143000" y="4251960"/>
            <a:ext cx="2286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700"/>
              <a:buFont typeface="Arial"/>
              <a:buNone/>
            </a:pPr>
            <a:r>
              <a:rPr b="1" i="0" lang="en-US" sz="1700" u="none" cap="none" strike="noStrike">
                <a:solidFill>
                  <a:srgbClr val="EF4444"/>
                </a:solidFill>
                <a:latin typeface="Arial"/>
                <a:ea typeface="Arial"/>
                <a:cs typeface="Arial"/>
                <a:sym typeface="Arial"/>
              </a:rPr>
              <a:t>✕</a:t>
            </a:r>
            <a:endParaRPr b="0" i="0" sz="1700" u="none" cap="none" strike="noStrike">
              <a:solidFill>
                <a:schemeClr val="dk1"/>
              </a:solidFill>
              <a:latin typeface="Arial"/>
              <a:ea typeface="Arial"/>
              <a:cs typeface="Arial"/>
              <a:sym typeface="Arial"/>
            </a:endParaRPr>
          </a:p>
        </p:txBody>
      </p:sp>
      <p:sp>
        <p:nvSpPr>
          <p:cNvPr id="246" name="Google Shape;246;p11"/>
          <p:cNvSpPr/>
          <p:nvPr/>
        </p:nvSpPr>
        <p:spPr>
          <a:xfrm>
            <a:off x="1508760" y="4233672"/>
            <a:ext cx="34747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000"/>
              <a:buFont typeface="Arial"/>
              <a:buNone/>
            </a:pPr>
            <a:r>
              <a:rPr b="0" i="0" lang="en-US" sz="2000" u="none" cap="none" strike="noStrike">
                <a:solidFill>
                  <a:srgbClr val="111827"/>
                </a:solidFill>
                <a:latin typeface="Arial"/>
                <a:ea typeface="Arial"/>
                <a:cs typeface="Arial"/>
                <a:sym typeface="Arial"/>
              </a:rPr>
              <a:t>The SUV changes lanes.</a:t>
            </a:r>
            <a:endParaRPr b="0" i="0" sz="2000" u="none" cap="none" strike="noStrike">
              <a:solidFill>
                <a:schemeClr val="dk1"/>
              </a:solidFill>
              <a:latin typeface="Arial"/>
              <a:ea typeface="Arial"/>
              <a:cs typeface="Arial"/>
              <a:sym typeface="Arial"/>
            </a:endParaRPr>
          </a:p>
        </p:txBody>
      </p:sp>
      <p:sp>
        <p:nvSpPr>
          <p:cNvPr id="247" name="Google Shape;247;p11"/>
          <p:cNvSpPr/>
          <p:nvPr/>
        </p:nvSpPr>
        <p:spPr>
          <a:xfrm>
            <a:off x="6629400" y="2788920"/>
            <a:ext cx="2286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6B900"/>
              </a:buClr>
              <a:buSzPts val="1700"/>
              <a:buFont typeface="Arial"/>
              <a:buNone/>
            </a:pPr>
            <a:r>
              <a:rPr b="1" i="0" lang="en-US" sz="1700" u="none" cap="none" strike="noStrike">
                <a:solidFill>
                  <a:srgbClr val="76B900"/>
                </a:solidFill>
                <a:latin typeface="Arial"/>
                <a:ea typeface="Arial"/>
                <a:cs typeface="Arial"/>
                <a:sym typeface="Arial"/>
              </a:rPr>
              <a:t>✓</a:t>
            </a:r>
            <a:endParaRPr b="0" i="0" sz="1700" u="none" cap="none" strike="noStrike">
              <a:solidFill>
                <a:schemeClr val="dk1"/>
              </a:solidFill>
              <a:latin typeface="Arial"/>
              <a:ea typeface="Arial"/>
              <a:cs typeface="Arial"/>
              <a:sym typeface="Arial"/>
            </a:endParaRPr>
          </a:p>
        </p:txBody>
      </p:sp>
      <p:sp>
        <p:nvSpPr>
          <p:cNvPr id="248" name="Google Shape;248;p11"/>
          <p:cNvSpPr/>
          <p:nvPr/>
        </p:nvSpPr>
        <p:spPr>
          <a:xfrm>
            <a:off x="6995160" y="2770632"/>
            <a:ext cx="34747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000"/>
              <a:buFont typeface="Arial"/>
              <a:buNone/>
            </a:pPr>
            <a:r>
              <a:rPr b="0" i="0" lang="en-US" sz="2000" u="none" cap="none" strike="noStrike">
                <a:solidFill>
                  <a:srgbClr val="111827"/>
                </a:solidFill>
                <a:latin typeface="Arial"/>
                <a:ea typeface="Arial"/>
                <a:cs typeface="Arial"/>
                <a:sym typeface="Arial"/>
              </a:rPr>
              <a:t>Turn left.</a:t>
            </a:r>
            <a:endParaRPr b="0" i="0" sz="2000" u="none" cap="none" strike="noStrike">
              <a:solidFill>
                <a:schemeClr val="dk1"/>
              </a:solidFill>
              <a:latin typeface="Arial"/>
              <a:ea typeface="Arial"/>
              <a:cs typeface="Arial"/>
              <a:sym typeface="Arial"/>
            </a:endParaRPr>
          </a:p>
        </p:txBody>
      </p:sp>
      <p:sp>
        <p:nvSpPr>
          <p:cNvPr id="249" name="Google Shape;249;p11"/>
          <p:cNvSpPr/>
          <p:nvPr/>
        </p:nvSpPr>
        <p:spPr>
          <a:xfrm>
            <a:off x="6629400" y="3520440"/>
            <a:ext cx="2286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6B900"/>
              </a:buClr>
              <a:buSzPts val="1700"/>
              <a:buFont typeface="Arial"/>
              <a:buNone/>
            </a:pPr>
            <a:r>
              <a:rPr b="1" i="0" lang="en-US" sz="1700" u="none" cap="none" strike="noStrike">
                <a:solidFill>
                  <a:srgbClr val="76B900"/>
                </a:solidFill>
                <a:latin typeface="Arial"/>
                <a:ea typeface="Arial"/>
                <a:cs typeface="Arial"/>
                <a:sym typeface="Arial"/>
              </a:rPr>
              <a:t>✓</a:t>
            </a:r>
            <a:endParaRPr b="0" i="0" sz="1700" u="none" cap="none" strike="noStrike">
              <a:solidFill>
                <a:schemeClr val="dk1"/>
              </a:solidFill>
              <a:latin typeface="Arial"/>
              <a:ea typeface="Arial"/>
              <a:cs typeface="Arial"/>
              <a:sym typeface="Arial"/>
            </a:endParaRPr>
          </a:p>
        </p:txBody>
      </p:sp>
      <p:sp>
        <p:nvSpPr>
          <p:cNvPr id="250" name="Google Shape;250;p11"/>
          <p:cNvSpPr/>
          <p:nvPr/>
        </p:nvSpPr>
        <p:spPr>
          <a:xfrm>
            <a:off x="6995160" y="3502152"/>
            <a:ext cx="34747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000"/>
              <a:buFont typeface="Arial"/>
              <a:buNone/>
            </a:pPr>
            <a:r>
              <a:rPr b="0" i="0" lang="en-US" sz="2000" u="none" cap="none" strike="noStrike">
                <a:solidFill>
                  <a:srgbClr val="111827"/>
                </a:solidFill>
                <a:latin typeface="Arial"/>
                <a:ea typeface="Arial"/>
                <a:cs typeface="Arial"/>
                <a:sym typeface="Arial"/>
              </a:rPr>
              <a:t>Slow down.</a:t>
            </a:r>
            <a:endParaRPr b="0" i="0" sz="2000" u="none" cap="none" strike="noStrike">
              <a:solidFill>
                <a:schemeClr val="dk1"/>
              </a:solidFill>
              <a:latin typeface="Arial"/>
              <a:ea typeface="Arial"/>
              <a:cs typeface="Arial"/>
              <a:sym typeface="Arial"/>
            </a:endParaRPr>
          </a:p>
        </p:txBody>
      </p:sp>
      <p:sp>
        <p:nvSpPr>
          <p:cNvPr id="251" name="Google Shape;251;p11"/>
          <p:cNvSpPr/>
          <p:nvPr/>
        </p:nvSpPr>
        <p:spPr>
          <a:xfrm>
            <a:off x="6629400" y="4251960"/>
            <a:ext cx="2286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6B900"/>
              </a:buClr>
              <a:buSzPts val="1700"/>
              <a:buFont typeface="Arial"/>
              <a:buNone/>
            </a:pPr>
            <a:r>
              <a:rPr b="1" i="0" lang="en-US" sz="1700" u="none" cap="none" strike="noStrike">
                <a:solidFill>
                  <a:srgbClr val="76B900"/>
                </a:solidFill>
                <a:latin typeface="Arial"/>
                <a:ea typeface="Arial"/>
                <a:cs typeface="Arial"/>
                <a:sym typeface="Arial"/>
              </a:rPr>
              <a:t>✓</a:t>
            </a:r>
            <a:endParaRPr b="0" i="0" sz="1700" u="none" cap="none" strike="noStrike">
              <a:solidFill>
                <a:schemeClr val="dk1"/>
              </a:solidFill>
              <a:latin typeface="Arial"/>
              <a:ea typeface="Arial"/>
              <a:cs typeface="Arial"/>
              <a:sym typeface="Arial"/>
            </a:endParaRPr>
          </a:p>
        </p:txBody>
      </p:sp>
      <p:sp>
        <p:nvSpPr>
          <p:cNvPr id="252" name="Google Shape;252;p11"/>
          <p:cNvSpPr/>
          <p:nvPr/>
        </p:nvSpPr>
        <p:spPr>
          <a:xfrm>
            <a:off x="6995160" y="4233672"/>
            <a:ext cx="34747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000"/>
              <a:buFont typeface="Arial"/>
              <a:buNone/>
            </a:pPr>
            <a:r>
              <a:rPr b="0" i="0" lang="en-US" sz="2000" u="none" cap="none" strike="noStrike">
                <a:solidFill>
                  <a:srgbClr val="111827"/>
                </a:solidFill>
                <a:latin typeface="Arial"/>
                <a:ea typeface="Arial"/>
                <a:cs typeface="Arial"/>
                <a:sym typeface="Arial"/>
              </a:rPr>
              <a:t>Merge into the left lane.</a:t>
            </a:r>
            <a:endParaRPr b="0" i="0" sz="2000" u="none" cap="none" strike="noStrike">
              <a:solidFill>
                <a:schemeClr val="dk1"/>
              </a:solidFill>
              <a:latin typeface="Arial"/>
              <a:ea typeface="Arial"/>
              <a:cs typeface="Arial"/>
              <a:sym typeface="Arial"/>
            </a:endParaRPr>
          </a:p>
        </p:txBody>
      </p:sp>
      <p:sp>
        <p:nvSpPr>
          <p:cNvPr id="253" name="Google Shape;253;p11"/>
          <p:cNvSpPr txBox="1"/>
          <p:nvPr>
            <p:ph idx="4294967295" type="sldNum"/>
          </p:nvPr>
        </p:nvSpPr>
        <p:spPr>
          <a:xfrm>
            <a:off x="11430000" y="6583680"/>
            <a:ext cx="8000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None/>
            </a:pPr>
            <a:fld id="{00000000-1234-1234-1234-123412341234}" type="slidenum">
              <a:rPr b="0" i="0" lang="en-US" sz="1200" u="none" cap="none" strike="noStrike">
                <a:solidFill>
                  <a:srgbClr val="6B7280"/>
                </a:solidFill>
                <a:latin typeface="Arial"/>
                <a:ea typeface="Arial"/>
                <a:cs typeface="Arial"/>
                <a:sym typeface="Arial"/>
              </a:rPr>
              <a:t>‹#›</a:t>
            </a:fld>
            <a:endParaRPr b="0" i="0" sz="1200" u="none" cap="none" strike="noStrike">
              <a:solidFill>
                <a:srgbClr val="6B728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2"/>
          <p:cNvSpPr/>
          <p:nvPr/>
        </p:nvSpPr>
        <p:spPr>
          <a:xfrm>
            <a:off x="566928" y="320040"/>
            <a:ext cx="27432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6B900"/>
              </a:buClr>
              <a:buSzPts val="1000"/>
              <a:buFont typeface="Arial"/>
              <a:buNone/>
            </a:pPr>
            <a:r>
              <a:rPr b="1" i="0" lang="en-US" sz="1000" u="none" cap="none" strike="noStrike">
                <a:solidFill>
                  <a:srgbClr val="76B900"/>
                </a:solidFill>
                <a:latin typeface="Arial"/>
                <a:ea typeface="Arial"/>
                <a:cs typeface="Arial"/>
                <a:sym typeface="Arial"/>
              </a:rPr>
              <a:t>TAGS</a:t>
            </a:r>
            <a:endParaRPr b="0" i="0" sz="1000" u="none" cap="none" strike="noStrike">
              <a:solidFill>
                <a:schemeClr val="dk1"/>
              </a:solidFill>
              <a:latin typeface="Arial"/>
              <a:ea typeface="Arial"/>
              <a:cs typeface="Arial"/>
              <a:sym typeface="Arial"/>
            </a:endParaRPr>
          </a:p>
        </p:txBody>
      </p:sp>
      <p:sp>
        <p:nvSpPr>
          <p:cNvPr id="260" name="Google Shape;260;p12"/>
          <p:cNvSpPr/>
          <p:nvPr/>
        </p:nvSpPr>
        <p:spPr>
          <a:xfrm>
            <a:off x="566928" y="594360"/>
            <a:ext cx="77724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3000"/>
              <a:buFont typeface="Arial"/>
              <a:buNone/>
            </a:pPr>
            <a:r>
              <a:rPr b="1" i="0" lang="en-US" sz="3000" u="none" cap="none" strike="noStrike">
                <a:solidFill>
                  <a:srgbClr val="111827"/>
                </a:solidFill>
                <a:latin typeface="Arial"/>
                <a:ea typeface="Arial"/>
                <a:cs typeface="Arial"/>
                <a:sym typeface="Arial"/>
              </a:rPr>
              <a:t>Referential classes</a:t>
            </a:r>
            <a:endParaRPr b="0" i="0" sz="3000" u="none" cap="none" strike="noStrike">
              <a:solidFill>
                <a:schemeClr val="dk1"/>
              </a:solidFill>
              <a:latin typeface="Arial"/>
              <a:ea typeface="Arial"/>
              <a:cs typeface="Arial"/>
              <a:sym typeface="Arial"/>
            </a:endParaRPr>
          </a:p>
        </p:txBody>
      </p:sp>
      <p:sp>
        <p:nvSpPr>
          <p:cNvPr id="261" name="Google Shape;261;p12"/>
          <p:cNvSpPr/>
          <p:nvPr/>
        </p:nvSpPr>
        <p:spPr>
          <a:xfrm>
            <a:off x="566928" y="1170432"/>
            <a:ext cx="914400" cy="54864"/>
          </a:xfrm>
          <a:prstGeom prst="rect">
            <a:avLst/>
          </a:prstGeom>
          <a:solidFill>
            <a:srgbClr val="76B900"/>
          </a:solidFill>
          <a:ln cap="flat" cmpd="sng" w="12700">
            <a:solidFill>
              <a:srgbClr val="76B9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12"/>
          <p:cNvSpPr/>
          <p:nvPr/>
        </p:nvSpPr>
        <p:spPr>
          <a:xfrm>
            <a:off x="731520" y="1325880"/>
            <a:ext cx="76809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750"/>
              <a:buFont typeface="Arial"/>
              <a:buNone/>
            </a:pPr>
            <a:r>
              <a:rPr b="0" i="0" lang="en-US" sz="1750" u="none" cap="none" strike="noStrike">
                <a:solidFill>
                  <a:srgbClr val="6B7280"/>
                </a:solidFill>
                <a:latin typeface="Arial"/>
                <a:ea typeface="Arial"/>
                <a:cs typeface="Arial"/>
                <a:sym typeface="Arial"/>
              </a:rPr>
              <a:t>Each instruction also gets a lightweight tag describing what it refers to.</a:t>
            </a:r>
            <a:endParaRPr b="0" i="0" sz="1750" u="none" cap="none" strike="noStrike">
              <a:solidFill>
                <a:schemeClr val="dk1"/>
              </a:solidFill>
              <a:latin typeface="Arial"/>
              <a:ea typeface="Arial"/>
              <a:cs typeface="Arial"/>
              <a:sym typeface="Arial"/>
            </a:endParaRPr>
          </a:p>
        </p:txBody>
      </p:sp>
      <p:sp>
        <p:nvSpPr>
          <p:cNvPr id="263" name="Google Shape;263;p12"/>
          <p:cNvSpPr/>
          <p:nvPr/>
        </p:nvSpPr>
        <p:spPr>
          <a:xfrm>
            <a:off x="731520" y="1920240"/>
            <a:ext cx="5074920" cy="1234440"/>
          </a:xfrm>
          <a:prstGeom prst="roundRect">
            <a:avLst>
              <a:gd fmla="val 10370"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12"/>
          <p:cNvSpPr/>
          <p:nvPr/>
        </p:nvSpPr>
        <p:spPr>
          <a:xfrm>
            <a:off x="960120" y="2167128"/>
            <a:ext cx="731520" cy="731520"/>
          </a:xfrm>
          <a:prstGeom prst="roundRect">
            <a:avLst>
              <a:gd fmla="val 15000" name="adj"/>
            </a:avLst>
          </a:prstGeom>
          <a:solidFill>
            <a:srgbClr val="76B900"/>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12"/>
          <p:cNvSpPr/>
          <p:nvPr/>
        </p:nvSpPr>
        <p:spPr>
          <a:xfrm>
            <a:off x="960120" y="2313432"/>
            <a:ext cx="731520"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p:txBody>
      </p:sp>
      <p:sp>
        <p:nvSpPr>
          <p:cNvPr id="266" name="Google Shape;266;p12"/>
          <p:cNvSpPr/>
          <p:nvPr/>
        </p:nvSpPr>
        <p:spPr>
          <a:xfrm>
            <a:off x="1920240" y="2148840"/>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700"/>
              <a:buFont typeface="Arial"/>
              <a:buNone/>
            </a:pPr>
            <a:r>
              <a:rPr b="1" i="0" lang="en-US" sz="1700" u="none" cap="none" strike="noStrike">
                <a:solidFill>
                  <a:srgbClr val="111827"/>
                </a:solidFill>
                <a:latin typeface="Arial"/>
                <a:ea typeface="Arial"/>
                <a:cs typeface="Arial"/>
                <a:sym typeface="Arial"/>
              </a:rPr>
              <a:t>Non-referential</a:t>
            </a:r>
            <a:endParaRPr b="0" i="0" sz="1700" u="none" cap="none" strike="noStrike">
              <a:solidFill>
                <a:schemeClr val="dk1"/>
              </a:solidFill>
              <a:latin typeface="Arial"/>
              <a:ea typeface="Arial"/>
              <a:cs typeface="Arial"/>
              <a:sym typeface="Arial"/>
            </a:endParaRPr>
          </a:p>
        </p:txBody>
      </p:sp>
      <p:sp>
        <p:nvSpPr>
          <p:cNvPr id="267" name="Google Shape;267;p12"/>
          <p:cNvSpPr/>
          <p:nvPr/>
        </p:nvSpPr>
        <p:spPr>
          <a:xfrm>
            <a:off x="1920240" y="2496312"/>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400"/>
              <a:buFont typeface="Arial"/>
              <a:buNone/>
            </a:pPr>
            <a:r>
              <a:rPr b="0" i="1" lang="en-US" sz="1400" u="none" cap="none" strike="noStrike">
                <a:solidFill>
                  <a:srgbClr val="111827"/>
                </a:solidFill>
                <a:latin typeface="Arial"/>
                <a:ea typeface="Arial"/>
                <a:cs typeface="Arial"/>
                <a:sym typeface="Arial"/>
              </a:rPr>
              <a:t>“Turn left.”</a:t>
            </a:r>
            <a:endParaRPr b="0" i="0" sz="1400" u="none" cap="none" strike="noStrike">
              <a:solidFill>
                <a:schemeClr val="dk1"/>
              </a:solidFill>
              <a:latin typeface="Arial"/>
              <a:ea typeface="Arial"/>
              <a:cs typeface="Arial"/>
              <a:sym typeface="Arial"/>
            </a:endParaRPr>
          </a:p>
        </p:txBody>
      </p:sp>
      <p:sp>
        <p:nvSpPr>
          <p:cNvPr id="268" name="Google Shape;268;p12"/>
          <p:cNvSpPr/>
          <p:nvPr/>
        </p:nvSpPr>
        <p:spPr>
          <a:xfrm>
            <a:off x="1920240" y="2788920"/>
            <a:ext cx="34747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Arial"/>
              <a:buNone/>
            </a:pPr>
            <a:r>
              <a:rPr b="0" i="0" lang="en-US" sz="1050" u="none" cap="none" strike="noStrike">
                <a:solidFill>
                  <a:srgbClr val="6B7280"/>
                </a:solidFill>
                <a:latin typeface="Arial"/>
                <a:ea typeface="Arial"/>
                <a:cs typeface="Arial"/>
                <a:sym typeface="Arial"/>
              </a:rPr>
              <a:t>No specific object or landmark</a:t>
            </a:r>
            <a:endParaRPr b="0" i="0" sz="1050" u="none" cap="none" strike="noStrike">
              <a:solidFill>
                <a:schemeClr val="dk1"/>
              </a:solidFill>
              <a:latin typeface="Arial"/>
              <a:ea typeface="Arial"/>
              <a:cs typeface="Arial"/>
              <a:sym typeface="Arial"/>
            </a:endParaRPr>
          </a:p>
        </p:txBody>
      </p:sp>
      <p:sp>
        <p:nvSpPr>
          <p:cNvPr id="269" name="Google Shape;269;p12"/>
          <p:cNvSpPr/>
          <p:nvPr/>
        </p:nvSpPr>
        <p:spPr>
          <a:xfrm>
            <a:off x="6309360" y="1920240"/>
            <a:ext cx="5074920" cy="1234440"/>
          </a:xfrm>
          <a:prstGeom prst="roundRect">
            <a:avLst>
              <a:gd fmla="val 10370"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12"/>
          <p:cNvSpPr/>
          <p:nvPr/>
        </p:nvSpPr>
        <p:spPr>
          <a:xfrm>
            <a:off x="6537960" y="2167128"/>
            <a:ext cx="731520" cy="731520"/>
          </a:xfrm>
          <a:prstGeom prst="roundRect">
            <a:avLst>
              <a:gd fmla="val 15000" name="adj"/>
            </a:avLst>
          </a:prstGeom>
          <a:solidFill>
            <a:srgbClr val="F59E0B"/>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12"/>
          <p:cNvSpPr/>
          <p:nvPr/>
        </p:nvSpPr>
        <p:spPr>
          <a:xfrm>
            <a:off x="6537960" y="2313432"/>
            <a:ext cx="731520"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p:txBody>
      </p:sp>
      <p:sp>
        <p:nvSpPr>
          <p:cNvPr id="272" name="Google Shape;272;p12"/>
          <p:cNvSpPr/>
          <p:nvPr/>
        </p:nvSpPr>
        <p:spPr>
          <a:xfrm>
            <a:off x="7498080" y="2148840"/>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700"/>
              <a:buFont typeface="Arial"/>
              <a:buNone/>
            </a:pPr>
            <a:r>
              <a:rPr b="1" i="0" lang="en-US" sz="1700" u="none" cap="none" strike="noStrike">
                <a:solidFill>
                  <a:srgbClr val="111827"/>
                </a:solidFill>
                <a:latin typeface="Arial"/>
                <a:ea typeface="Arial"/>
                <a:cs typeface="Arial"/>
                <a:sym typeface="Arial"/>
              </a:rPr>
              <a:t>Static</a:t>
            </a:r>
            <a:endParaRPr b="0" i="0" sz="1700" u="none" cap="none" strike="noStrike">
              <a:solidFill>
                <a:schemeClr val="dk1"/>
              </a:solidFill>
              <a:latin typeface="Arial"/>
              <a:ea typeface="Arial"/>
              <a:cs typeface="Arial"/>
              <a:sym typeface="Arial"/>
            </a:endParaRPr>
          </a:p>
        </p:txBody>
      </p:sp>
      <p:sp>
        <p:nvSpPr>
          <p:cNvPr id="273" name="Google Shape;273;p12"/>
          <p:cNvSpPr/>
          <p:nvPr/>
        </p:nvSpPr>
        <p:spPr>
          <a:xfrm>
            <a:off x="7498080" y="2496312"/>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400"/>
              <a:buFont typeface="Arial"/>
              <a:buNone/>
            </a:pPr>
            <a:r>
              <a:rPr b="0" i="1" lang="en-US" sz="1400" u="none" cap="none" strike="noStrike">
                <a:solidFill>
                  <a:srgbClr val="111827"/>
                </a:solidFill>
                <a:latin typeface="Arial"/>
                <a:ea typeface="Arial"/>
                <a:cs typeface="Arial"/>
                <a:sym typeface="Arial"/>
              </a:rPr>
              <a:t>“Turn at the stop sign.”</a:t>
            </a:r>
            <a:endParaRPr b="0" i="0" sz="1400" u="none" cap="none" strike="noStrike">
              <a:solidFill>
                <a:schemeClr val="dk1"/>
              </a:solidFill>
              <a:latin typeface="Arial"/>
              <a:ea typeface="Arial"/>
              <a:cs typeface="Arial"/>
              <a:sym typeface="Arial"/>
            </a:endParaRPr>
          </a:p>
        </p:txBody>
      </p:sp>
      <p:sp>
        <p:nvSpPr>
          <p:cNvPr id="274" name="Google Shape;274;p12"/>
          <p:cNvSpPr/>
          <p:nvPr/>
        </p:nvSpPr>
        <p:spPr>
          <a:xfrm>
            <a:off x="7498080" y="2788920"/>
            <a:ext cx="34747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Arial"/>
              <a:buNone/>
            </a:pPr>
            <a:r>
              <a:rPr b="0" i="0" lang="en-US" sz="1050" u="none" cap="none" strike="noStrike">
                <a:solidFill>
                  <a:srgbClr val="6B7280"/>
                </a:solidFill>
                <a:latin typeface="Arial"/>
                <a:ea typeface="Arial"/>
                <a:cs typeface="Arial"/>
                <a:sym typeface="Arial"/>
              </a:rPr>
              <a:t>Fixed road feature or landmark</a:t>
            </a:r>
            <a:endParaRPr b="0" i="0" sz="1050" u="none" cap="none" strike="noStrike">
              <a:solidFill>
                <a:schemeClr val="dk1"/>
              </a:solidFill>
              <a:latin typeface="Arial"/>
              <a:ea typeface="Arial"/>
              <a:cs typeface="Arial"/>
              <a:sym typeface="Arial"/>
            </a:endParaRPr>
          </a:p>
        </p:txBody>
      </p:sp>
      <p:sp>
        <p:nvSpPr>
          <p:cNvPr id="275" name="Google Shape;275;p12"/>
          <p:cNvSpPr/>
          <p:nvPr/>
        </p:nvSpPr>
        <p:spPr>
          <a:xfrm>
            <a:off x="731520" y="3611880"/>
            <a:ext cx="5074920" cy="1234440"/>
          </a:xfrm>
          <a:prstGeom prst="roundRect">
            <a:avLst>
              <a:gd fmla="val 10370"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2"/>
          <p:cNvSpPr/>
          <p:nvPr/>
        </p:nvSpPr>
        <p:spPr>
          <a:xfrm>
            <a:off x="960120" y="3858768"/>
            <a:ext cx="731520" cy="731520"/>
          </a:xfrm>
          <a:prstGeom prst="roundRect">
            <a:avLst>
              <a:gd fmla="val 15000" name="adj"/>
            </a:avLst>
          </a:prstGeom>
          <a:solidFill>
            <a:srgbClr val="2563EB"/>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2"/>
          <p:cNvSpPr/>
          <p:nvPr/>
        </p:nvSpPr>
        <p:spPr>
          <a:xfrm>
            <a:off x="960120" y="4005072"/>
            <a:ext cx="731520"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p:txBody>
      </p:sp>
      <p:sp>
        <p:nvSpPr>
          <p:cNvPr id="278" name="Google Shape;278;p12"/>
          <p:cNvSpPr/>
          <p:nvPr/>
        </p:nvSpPr>
        <p:spPr>
          <a:xfrm>
            <a:off x="1920240" y="3840480"/>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700"/>
              <a:buFont typeface="Arial"/>
              <a:buNone/>
            </a:pPr>
            <a:r>
              <a:rPr b="1" i="0" lang="en-US" sz="1700" u="none" cap="none" strike="noStrike">
                <a:solidFill>
                  <a:srgbClr val="111827"/>
                </a:solidFill>
                <a:latin typeface="Arial"/>
                <a:ea typeface="Arial"/>
                <a:cs typeface="Arial"/>
                <a:sym typeface="Arial"/>
              </a:rPr>
              <a:t>Dynamic</a:t>
            </a:r>
            <a:endParaRPr b="0" i="0" sz="1700" u="none" cap="none" strike="noStrike">
              <a:solidFill>
                <a:schemeClr val="dk1"/>
              </a:solidFill>
              <a:latin typeface="Arial"/>
              <a:ea typeface="Arial"/>
              <a:cs typeface="Arial"/>
              <a:sym typeface="Arial"/>
            </a:endParaRPr>
          </a:p>
        </p:txBody>
      </p:sp>
      <p:sp>
        <p:nvSpPr>
          <p:cNvPr id="279" name="Google Shape;279;p12"/>
          <p:cNvSpPr/>
          <p:nvPr/>
        </p:nvSpPr>
        <p:spPr>
          <a:xfrm>
            <a:off x="1920240" y="4187952"/>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400"/>
              <a:buFont typeface="Arial"/>
              <a:buNone/>
            </a:pPr>
            <a:r>
              <a:rPr b="0" i="1" lang="en-US" sz="1400" u="none" cap="none" strike="noStrike">
                <a:solidFill>
                  <a:srgbClr val="111827"/>
                </a:solidFill>
                <a:latin typeface="Arial"/>
                <a:ea typeface="Arial"/>
                <a:cs typeface="Arial"/>
                <a:sym typeface="Arial"/>
              </a:rPr>
              <a:t>“Go around the truck.”</a:t>
            </a:r>
            <a:endParaRPr b="0" i="0" sz="1400" u="none" cap="none" strike="noStrike">
              <a:solidFill>
                <a:schemeClr val="dk1"/>
              </a:solidFill>
              <a:latin typeface="Arial"/>
              <a:ea typeface="Arial"/>
              <a:cs typeface="Arial"/>
              <a:sym typeface="Arial"/>
            </a:endParaRPr>
          </a:p>
        </p:txBody>
      </p:sp>
      <p:sp>
        <p:nvSpPr>
          <p:cNvPr id="280" name="Google Shape;280;p12"/>
          <p:cNvSpPr/>
          <p:nvPr/>
        </p:nvSpPr>
        <p:spPr>
          <a:xfrm>
            <a:off x="1920240" y="4480560"/>
            <a:ext cx="34747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Arial"/>
              <a:buNone/>
            </a:pPr>
            <a:r>
              <a:rPr b="0" i="0" lang="en-US" sz="1050" u="none" cap="none" strike="noStrike">
                <a:solidFill>
                  <a:srgbClr val="6B7280"/>
                </a:solidFill>
                <a:latin typeface="Arial"/>
                <a:ea typeface="Arial"/>
                <a:cs typeface="Arial"/>
                <a:sym typeface="Arial"/>
              </a:rPr>
              <a:t>Vehicle, pedestrian, cyclist, etc.</a:t>
            </a:r>
            <a:endParaRPr b="0" i="0" sz="1050" u="none" cap="none" strike="noStrike">
              <a:solidFill>
                <a:schemeClr val="dk1"/>
              </a:solidFill>
              <a:latin typeface="Arial"/>
              <a:ea typeface="Arial"/>
              <a:cs typeface="Arial"/>
              <a:sym typeface="Arial"/>
            </a:endParaRPr>
          </a:p>
        </p:txBody>
      </p:sp>
      <p:sp>
        <p:nvSpPr>
          <p:cNvPr id="281" name="Google Shape;281;p12"/>
          <p:cNvSpPr/>
          <p:nvPr/>
        </p:nvSpPr>
        <p:spPr>
          <a:xfrm>
            <a:off x="6309360" y="3611880"/>
            <a:ext cx="5074920" cy="1234440"/>
          </a:xfrm>
          <a:prstGeom prst="roundRect">
            <a:avLst>
              <a:gd fmla="val 10370"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2"/>
          <p:cNvSpPr/>
          <p:nvPr/>
        </p:nvSpPr>
        <p:spPr>
          <a:xfrm>
            <a:off x="6537960" y="3858768"/>
            <a:ext cx="731520" cy="731520"/>
          </a:xfrm>
          <a:prstGeom prst="roundRect">
            <a:avLst>
              <a:gd fmla="val 15000" name="adj"/>
            </a:avLst>
          </a:prstGeom>
          <a:solidFill>
            <a:srgbClr val="7C3AED"/>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2"/>
          <p:cNvSpPr/>
          <p:nvPr/>
        </p:nvSpPr>
        <p:spPr>
          <a:xfrm>
            <a:off x="6537960" y="4005072"/>
            <a:ext cx="731520"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a:t>
            </a:r>
            <a:endParaRPr b="0" i="0" sz="1500" u="none" cap="none" strike="noStrike">
              <a:solidFill>
                <a:schemeClr val="dk1"/>
              </a:solidFill>
              <a:latin typeface="Arial"/>
              <a:ea typeface="Arial"/>
              <a:cs typeface="Arial"/>
              <a:sym typeface="Arial"/>
            </a:endParaRPr>
          </a:p>
        </p:txBody>
      </p:sp>
      <p:sp>
        <p:nvSpPr>
          <p:cNvPr id="284" name="Google Shape;284;p12"/>
          <p:cNvSpPr/>
          <p:nvPr/>
        </p:nvSpPr>
        <p:spPr>
          <a:xfrm>
            <a:off x="7498080" y="3840480"/>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700"/>
              <a:buFont typeface="Arial"/>
              <a:buNone/>
            </a:pPr>
            <a:r>
              <a:rPr b="1" i="0" lang="en-US" sz="1700" u="none" cap="none" strike="noStrike">
                <a:solidFill>
                  <a:srgbClr val="111827"/>
                </a:solidFill>
                <a:latin typeface="Arial"/>
                <a:ea typeface="Arial"/>
                <a:cs typeface="Arial"/>
                <a:sym typeface="Arial"/>
              </a:rPr>
              <a:t>Combined</a:t>
            </a:r>
            <a:endParaRPr b="0" i="0" sz="1700" u="none" cap="none" strike="noStrike">
              <a:solidFill>
                <a:schemeClr val="dk1"/>
              </a:solidFill>
              <a:latin typeface="Arial"/>
              <a:ea typeface="Arial"/>
              <a:cs typeface="Arial"/>
              <a:sym typeface="Arial"/>
            </a:endParaRPr>
          </a:p>
        </p:txBody>
      </p:sp>
      <p:sp>
        <p:nvSpPr>
          <p:cNvPr id="285" name="Google Shape;285;p12"/>
          <p:cNvSpPr/>
          <p:nvPr/>
        </p:nvSpPr>
        <p:spPr>
          <a:xfrm>
            <a:off x="7498080" y="4187952"/>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400"/>
              <a:buFont typeface="Arial"/>
              <a:buNone/>
            </a:pPr>
            <a:r>
              <a:rPr b="0" i="1" lang="en-US" sz="1400" u="none" cap="none" strike="noStrike">
                <a:solidFill>
                  <a:srgbClr val="111827"/>
                </a:solidFill>
                <a:latin typeface="Arial"/>
                <a:ea typeface="Arial"/>
                <a:cs typeface="Arial"/>
                <a:sym typeface="Arial"/>
              </a:rPr>
              <a:t>“Merge behind the bus near the intersection.”</a:t>
            </a:r>
            <a:endParaRPr b="0" i="0" sz="1400" u="none" cap="none" strike="noStrike">
              <a:solidFill>
                <a:schemeClr val="dk1"/>
              </a:solidFill>
              <a:latin typeface="Arial"/>
              <a:ea typeface="Arial"/>
              <a:cs typeface="Arial"/>
              <a:sym typeface="Arial"/>
            </a:endParaRPr>
          </a:p>
        </p:txBody>
      </p:sp>
      <p:sp>
        <p:nvSpPr>
          <p:cNvPr id="286" name="Google Shape;286;p12"/>
          <p:cNvSpPr/>
          <p:nvPr/>
        </p:nvSpPr>
        <p:spPr>
          <a:xfrm>
            <a:off x="7498080" y="4480560"/>
            <a:ext cx="34747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Arial"/>
              <a:buNone/>
            </a:pPr>
            <a:r>
              <a:rPr b="0" i="0" lang="en-US" sz="1050" u="none" cap="none" strike="noStrike">
                <a:solidFill>
                  <a:srgbClr val="6B7280"/>
                </a:solidFill>
                <a:latin typeface="Arial"/>
                <a:ea typeface="Arial"/>
                <a:cs typeface="Arial"/>
                <a:sym typeface="Arial"/>
              </a:rPr>
              <a:t>Static + dynamic references</a:t>
            </a:r>
            <a:endParaRPr b="0" i="0" sz="1050" u="none" cap="none" strike="noStrike">
              <a:solidFill>
                <a:schemeClr val="dk1"/>
              </a:solidFill>
              <a:latin typeface="Arial"/>
              <a:ea typeface="Arial"/>
              <a:cs typeface="Arial"/>
              <a:sym typeface="Arial"/>
            </a:endParaRPr>
          </a:p>
        </p:txBody>
      </p:sp>
      <p:sp>
        <p:nvSpPr>
          <p:cNvPr id="287" name="Google Shape;287;p12"/>
          <p:cNvSpPr txBox="1"/>
          <p:nvPr>
            <p:ph idx="4294967295" type="sldNum"/>
          </p:nvPr>
        </p:nvSpPr>
        <p:spPr>
          <a:xfrm>
            <a:off x="11430000" y="6583680"/>
            <a:ext cx="8000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None/>
            </a:pPr>
            <a:fld id="{00000000-1234-1234-1234-123412341234}" type="slidenum">
              <a:rPr b="0" i="0" lang="en-US" sz="1200" u="none" cap="none" strike="noStrike">
                <a:solidFill>
                  <a:srgbClr val="6B7280"/>
                </a:solidFill>
                <a:latin typeface="Arial"/>
                <a:ea typeface="Arial"/>
                <a:cs typeface="Arial"/>
                <a:sym typeface="Arial"/>
              </a:rPr>
              <a:t>‹#›</a:t>
            </a:fld>
            <a:endParaRPr b="0" i="0" sz="1200" u="none" cap="none" strike="noStrike">
              <a:solidFill>
                <a:srgbClr val="6B728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3"/>
          <p:cNvSpPr/>
          <p:nvPr/>
        </p:nvSpPr>
        <p:spPr>
          <a:xfrm>
            <a:off x="566928" y="320040"/>
            <a:ext cx="27432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6B900"/>
              </a:buClr>
              <a:buSzPts val="1000"/>
              <a:buFont typeface="Arial"/>
              <a:buNone/>
            </a:pPr>
            <a:r>
              <a:rPr b="1" i="0" lang="en-US" sz="1000" u="none" cap="none" strike="noStrike">
                <a:solidFill>
                  <a:srgbClr val="76B900"/>
                </a:solidFill>
                <a:latin typeface="Arial"/>
                <a:ea typeface="Arial"/>
                <a:cs typeface="Arial"/>
                <a:sym typeface="Arial"/>
              </a:rPr>
              <a:t>ANNOTATION IS HARDER THAN IT LOOKS</a:t>
            </a:r>
            <a:endParaRPr b="0" i="0" sz="1000" u="none" cap="none" strike="noStrike">
              <a:solidFill>
                <a:schemeClr val="dk1"/>
              </a:solidFill>
              <a:latin typeface="Arial"/>
              <a:ea typeface="Arial"/>
              <a:cs typeface="Arial"/>
              <a:sym typeface="Arial"/>
            </a:endParaRPr>
          </a:p>
        </p:txBody>
      </p:sp>
      <p:sp>
        <p:nvSpPr>
          <p:cNvPr id="294" name="Google Shape;294;p13"/>
          <p:cNvSpPr/>
          <p:nvPr/>
        </p:nvSpPr>
        <p:spPr>
          <a:xfrm>
            <a:off x="566928" y="594360"/>
            <a:ext cx="77724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3000"/>
              <a:buFont typeface="Arial"/>
              <a:buNone/>
            </a:pPr>
            <a:r>
              <a:rPr b="1" i="0" lang="en-US" sz="3000" u="none" cap="none" strike="noStrike">
                <a:solidFill>
                  <a:srgbClr val="111827"/>
                </a:solidFill>
                <a:latin typeface="Arial"/>
                <a:ea typeface="Arial"/>
                <a:cs typeface="Arial"/>
                <a:sym typeface="Arial"/>
              </a:rPr>
              <a:t>Challenges I ran into</a:t>
            </a:r>
            <a:endParaRPr b="0" i="0" sz="3000" u="none" cap="none" strike="noStrike">
              <a:solidFill>
                <a:schemeClr val="dk1"/>
              </a:solidFill>
              <a:latin typeface="Arial"/>
              <a:ea typeface="Arial"/>
              <a:cs typeface="Arial"/>
              <a:sym typeface="Arial"/>
            </a:endParaRPr>
          </a:p>
        </p:txBody>
      </p:sp>
      <p:sp>
        <p:nvSpPr>
          <p:cNvPr id="295" name="Google Shape;295;p13"/>
          <p:cNvSpPr/>
          <p:nvPr/>
        </p:nvSpPr>
        <p:spPr>
          <a:xfrm>
            <a:off x="566928" y="1170432"/>
            <a:ext cx="914400" cy="54864"/>
          </a:xfrm>
          <a:prstGeom prst="rect">
            <a:avLst/>
          </a:prstGeom>
          <a:solidFill>
            <a:srgbClr val="76B900"/>
          </a:solidFill>
          <a:ln cap="flat" cmpd="sng" w="12700">
            <a:solidFill>
              <a:srgbClr val="76B9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3"/>
          <p:cNvSpPr/>
          <p:nvPr/>
        </p:nvSpPr>
        <p:spPr>
          <a:xfrm>
            <a:off x="777240" y="1600200"/>
            <a:ext cx="5074920" cy="1234440"/>
          </a:xfrm>
          <a:prstGeom prst="roundRect">
            <a:avLst>
              <a:gd fmla="val 10370"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13"/>
          <p:cNvSpPr/>
          <p:nvPr/>
        </p:nvSpPr>
        <p:spPr>
          <a:xfrm>
            <a:off x="1051560" y="1828800"/>
            <a:ext cx="4389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700"/>
              <a:buFont typeface="Arial"/>
              <a:buNone/>
            </a:pPr>
            <a:r>
              <a:rPr b="1" i="0" lang="en-US" sz="1700" u="none" cap="none" strike="noStrike">
                <a:solidFill>
                  <a:srgbClr val="111827"/>
                </a:solidFill>
                <a:latin typeface="Arial"/>
                <a:ea typeface="Arial"/>
                <a:cs typeface="Arial"/>
                <a:sym typeface="Arial"/>
              </a:rPr>
              <a:t>Unknown destination</a:t>
            </a:r>
            <a:endParaRPr b="0" i="0" sz="1700" u="none" cap="none" strike="noStrike">
              <a:solidFill>
                <a:schemeClr val="dk1"/>
              </a:solidFill>
              <a:latin typeface="Arial"/>
              <a:ea typeface="Arial"/>
              <a:cs typeface="Arial"/>
              <a:sym typeface="Arial"/>
            </a:endParaRPr>
          </a:p>
        </p:txBody>
      </p:sp>
      <p:sp>
        <p:nvSpPr>
          <p:cNvPr id="298" name="Google Shape;298;p13"/>
          <p:cNvSpPr/>
          <p:nvPr/>
        </p:nvSpPr>
        <p:spPr>
          <a:xfrm>
            <a:off x="1051560" y="2167128"/>
            <a:ext cx="4389120" cy="438912"/>
          </a:xfrm>
          <a:prstGeom prst="rect">
            <a:avLst/>
          </a:prstGeom>
          <a:noFill/>
          <a:ln>
            <a:noFill/>
          </a:ln>
        </p:spPr>
        <p:txBody>
          <a:bodyPr anchorCtr="0" anchor="ctr" bIns="250" lIns="250" spcFirstLastPara="1" rIns="250" wrap="square" tIns="250">
            <a:noAutofit/>
          </a:bodyPr>
          <a:lstStyle/>
          <a:p>
            <a:pPr indent="0" lvl="0" marL="0" marR="0" rtl="0" algn="l">
              <a:lnSpc>
                <a:spcPct val="100000"/>
              </a:lnSpc>
              <a:spcBef>
                <a:spcPts val="0"/>
              </a:spcBef>
              <a:spcAft>
                <a:spcPts val="0"/>
              </a:spcAft>
              <a:buClr>
                <a:srgbClr val="6B7280"/>
              </a:buClr>
              <a:buSzPts val="1250"/>
              <a:buFont typeface="Arial"/>
              <a:buNone/>
            </a:pPr>
            <a:r>
              <a:rPr b="0" i="0" lang="en-US" sz="1250" u="none" cap="none" strike="noStrike">
                <a:solidFill>
                  <a:srgbClr val="6B7280"/>
                </a:solidFill>
                <a:latin typeface="Arial"/>
                <a:ea typeface="Arial"/>
                <a:cs typeface="Arial"/>
                <a:sym typeface="Arial"/>
              </a:rPr>
              <a:t>Sometimes a clip shows several turns, but the final goal is not obvious.</a:t>
            </a:r>
            <a:endParaRPr b="0" i="0" sz="1250" u="none" cap="none" strike="noStrike">
              <a:solidFill>
                <a:schemeClr val="dk1"/>
              </a:solidFill>
              <a:latin typeface="Arial"/>
              <a:ea typeface="Arial"/>
              <a:cs typeface="Arial"/>
              <a:sym typeface="Arial"/>
            </a:endParaRPr>
          </a:p>
        </p:txBody>
      </p:sp>
      <p:sp>
        <p:nvSpPr>
          <p:cNvPr id="299" name="Google Shape;299;p13"/>
          <p:cNvSpPr/>
          <p:nvPr/>
        </p:nvSpPr>
        <p:spPr>
          <a:xfrm>
            <a:off x="777240" y="1600200"/>
            <a:ext cx="82296" cy="1234440"/>
          </a:xfrm>
          <a:prstGeom prst="rect">
            <a:avLst/>
          </a:prstGeom>
          <a:solidFill>
            <a:srgbClr val="76B900"/>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13"/>
          <p:cNvSpPr/>
          <p:nvPr/>
        </p:nvSpPr>
        <p:spPr>
          <a:xfrm>
            <a:off x="6263640" y="1600200"/>
            <a:ext cx="5074920" cy="1234440"/>
          </a:xfrm>
          <a:prstGeom prst="roundRect">
            <a:avLst>
              <a:gd fmla="val 10370"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13"/>
          <p:cNvSpPr/>
          <p:nvPr/>
        </p:nvSpPr>
        <p:spPr>
          <a:xfrm>
            <a:off x="6537960" y="1828800"/>
            <a:ext cx="4389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700"/>
              <a:buFont typeface="Arial"/>
              <a:buNone/>
            </a:pPr>
            <a:r>
              <a:rPr b="1" i="0" lang="en-US" sz="1700" u="none" cap="none" strike="noStrike">
                <a:solidFill>
                  <a:srgbClr val="111827"/>
                </a:solidFill>
                <a:latin typeface="Arial"/>
                <a:ea typeface="Arial"/>
                <a:cs typeface="Arial"/>
                <a:sym typeface="Arial"/>
              </a:rPr>
              <a:t>High-level vs. turn-by-turn</a:t>
            </a:r>
            <a:endParaRPr b="0" i="0" sz="1700" u="none" cap="none" strike="noStrike">
              <a:solidFill>
                <a:schemeClr val="dk1"/>
              </a:solidFill>
              <a:latin typeface="Arial"/>
              <a:ea typeface="Arial"/>
              <a:cs typeface="Arial"/>
              <a:sym typeface="Arial"/>
            </a:endParaRPr>
          </a:p>
        </p:txBody>
      </p:sp>
      <p:sp>
        <p:nvSpPr>
          <p:cNvPr id="302" name="Google Shape;302;p13"/>
          <p:cNvSpPr/>
          <p:nvPr/>
        </p:nvSpPr>
        <p:spPr>
          <a:xfrm>
            <a:off x="6537960" y="2167128"/>
            <a:ext cx="4389120" cy="438912"/>
          </a:xfrm>
          <a:prstGeom prst="rect">
            <a:avLst/>
          </a:prstGeom>
          <a:noFill/>
          <a:ln>
            <a:noFill/>
          </a:ln>
        </p:spPr>
        <p:txBody>
          <a:bodyPr anchorCtr="0" anchor="ctr" bIns="250" lIns="250" spcFirstLastPara="1" rIns="250" wrap="square" tIns="250">
            <a:noAutofit/>
          </a:bodyPr>
          <a:lstStyle/>
          <a:p>
            <a:pPr indent="0" lvl="0" marL="0" marR="0" rtl="0" algn="l">
              <a:lnSpc>
                <a:spcPct val="100000"/>
              </a:lnSpc>
              <a:spcBef>
                <a:spcPts val="0"/>
              </a:spcBef>
              <a:spcAft>
                <a:spcPts val="0"/>
              </a:spcAft>
              <a:buClr>
                <a:srgbClr val="6B7280"/>
              </a:buClr>
              <a:buSzPts val="1250"/>
              <a:buFont typeface="Arial"/>
              <a:buNone/>
            </a:pPr>
            <a:r>
              <a:rPr b="0" i="0" lang="en-US" sz="1250" u="none" cap="none" strike="noStrike">
                <a:solidFill>
                  <a:srgbClr val="6B7280"/>
                </a:solidFill>
                <a:latin typeface="Arial"/>
                <a:ea typeface="Arial"/>
                <a:cs typeface="Arial"/>
                <a:sym typeface="Arial"/>
              </a:rPr>
              <a:t>If the intent is clear, use one high-level instruction. If not, stay grounded in the visible clip.</a:t>
            </a:r>
            <a:endParaRPr b="0" i="0" sz="1250" u="none" cap="none" strike="noStrike">
              <a:solidFill>
                <a:schemeClr val="dk1"/>
              </a:solidFill>
              <a:latin typeface="Arial"/>
              <a:ea typeface="Arial"/>
              <a:cs typeface="Arial"/>
              <a:sym typeface="Arial"/>
            </a:endParaRPr>
          </a:p>
        </p:txBody>
      </p:sp>
      <p:sp>
        <p:nvSpPr>
          <p:cNvPr id="303" name="Google Shape;303;p13"/>
          <p:cNvSpPr/>
          <p:nvPr/>
        </p:nvSpPr>
        <p:spPr>
          <a:xfrm>
            <a:off x="6263640" y="1600200"/>
            <a:ext cx="82296" cy="1234440"/>
          </a:xfrm>
          <a:prstGeom prst="rect">
            <a:avLst/>
          </a:prstGeom>
          <a:solidFill>
            <a:srgbClr val="76B900"/>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3"/>
          <p:cNvSpPr/>
          <p:nvPr/>
        </p:nvSpPr>
        <p:spPr>
          <a:xfrm>
            <a:off x="777240" y="3291840"/>
            <a:ext cx="5074920" cy="1234440"/>
          </a:xfrm>
          <a:prstGeom prst="roundRect">
            <a:avLst>
              <a:gd fmla="val 10370"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13"/>
          <p:cNvSpPr/>
          <p:nvPr/>
        </p:nvSpPr>
        <p:spPr>
          <a:xfrm>
            <a:off x="1051560" y="3520440"/>
            <a:ext cx="4389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700"/>
              <a:buFont typeface="Arial"/>
              <a:buNone/>
            </a:pPr>
            <a:r>
              <a:rPr b="1" i="0" lang="en-US" sz="1700" u="none" cap="none" strike="noStrike">
                <a:solidFill>
                  <a:srgbClr val="111827"/>
                </a:solidFill>
                <a:latin typeface="Arial"/>
                <a:ea typeface="Arial"/>
                <a:cs typeface="Arial"/>
                <a:sym typeface="Arial"/>
              </a:rPr>
              <a:t>Natural language variation</a:t>
            </a:r>
            <a:endParaRPr b="0" i="0" sz="1700" u="none" cap="none" strike="noStrike">
              <a:solidFill>
                <a:schemeClr val="dk1"/>
              </a:solidFill>
              <a:latin typeface="Arial"/>
              <a:ea typeface="Arial"/>
              <a:cs typeface="Arial"/>
              <a:sym typeface="Arial"/>
            </a:endParaRPr>
          </a:p>
        </p:txBody>
      </p:sp>
      <p:sp>
        <p:nvSpPr>
          <p:cNvPr id="306" name="Google Shape;306;p13"/>
          <p:cNvSpPr/>
          <p:nvPr/>
        </p:nvSpPr>
        <p:spPr>
          <a:xfrm>
            <a:off x="1051560" y="3858768"/>
            <a:ext cx="4389120" cy="438912"/>
          </a:xfrm>
          <a:prstGeom prst="rect">
            <a:avLst/>
          </a:prstGeom>
          <a:noFill/>
          <a:ln>
            <a:noFill/>
          </a:ln>
        </p:spPr>
        <p:txBody>
          <a:bodyPr anchorCtr="0" anchor="ctr" bIns="250" lIns="250" spcFirstLastPara="1" rIns="250" wrap="square" tIns="250">
            <a:noAutofit/>
          </a:bodyPr>
          <a:lstStyle/>
          <a:p>
            <a:pPr indent="0" lvl="0" marL="0" marR="0" rtl="0" algn="l">
              <a:lnSpc>
                <a:spcPct val="100000"/>
              </a:lnSpc>
              <a:spcBef>
                <a:spcPts val="0"/>
              </a:spcBef>
              <a:spcAft>
                <a:spcPts val="0"/>
              </a:spcAft>
              <a:buClr>
                <a:srgbClr val="6B7280"/>
              </a:buClr>
              <a:buSzPts val="1250"/>
              <a:buFont typeface="Arial"/>
              <a:buNone/>
            </a:pPr>
            <a:r>
              <a:rPr b="0" i="0" lang="en-US" sz="1250" u="none" cap="none" strike="noStrike">
                <a:solidFill>
                  <a:srgbClr val="6B7280"/>
                </a:solidFill>
                <a:latin typeface="Arial"/>
                <a:ea typeface="Arial"/>
                <a:cs typeface="Arial"/>
                <a:sym typeface="Arial"/>
              </a:rPr>
              <a:t>Two annotators can describe the same behavior differently.</a:t>
            </a:r>
            <a:endParaRPr b="0" i="0" sz="1250" u="none" cap="none" strike="noStrike">
              <a:solidFill>
                <a:schemeClr val="dk1"/>
              </a:solidFill>
              <a:latin typeface="Arial"/>
              <a:ea typeface="Arial"/>
              <a:cs typeface="Arial"/>
              <a:sym typeface="Arial"/>
            </a:endParaRPr>
          </a:p>
        </p:txBody>
      </p:sp>
      <p:sp>
        <p:nvSpPr>
          <p:cNvPr id="307" name="Google Shape;307;p13"/>
          <p:cNvSpPr/>
          <p:nvPr/>
        </p:nvSpPr>
        <p:spPr>
          <a:xfrm>
            <a:off x="777240" y="3291840"/>
            <a:ext cx="82296" cy="1234440"/>
          </a:xfrm>
          <a:prstGeom prst="rect">
            <a:avLst/>
          </a:prstGeom>
          <a:solidFill>
            <a:srgbClr val="76B900"/>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13"/>
          <p:cNvSpPr/>
          <p:nvPr/>
        </p:nvSpPr>
        <p:spPr>
          <a:xfrm>
            <a:off x="6263640" y="3291840"/>
            <a:ext cx="5074920" cy="1234440"/>
          </a:xfrm>
          <a:prstGeom prst="roundRect">
            <a:avLst>
              <a:gd fmla="val 10370"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3"/>
          <p:cNvSpPr/>
          <p:nvPr/>
        </p:nvSpPr>
        <p:spPr>
          <a:xfrm>
            <a:off x="6537960" y="3520440"/>
            <a:ext cx="4389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700"/>
              <a:buFont typeface="Arial"/>
              <a:buNone/>
            </a:pPr>
            <a:r>
              <a:rPr b="1" i="0" lang="en-US" sz="1700" u="none" cap="none" strike="noStrike">
                <a:solidFill>
                  <a:srgbClr val="111827"/>
                </a:solidFill>
                <a:latin typeface="Arial"/>
                <a:ea typeface="Arial"/>
                <a:cs typeface="Arial"/>
                <a:sym typeface="Arial"/>
              </a:rPr>
              <a:t>Consistency</a:t>
            </a:r>
            <a:endParaRPr b="0" i="0" sz="1700" u="none" cap="none" strike="noStrike">
              <a:solidFill>
                <a:schemeClr val="dk1"/>
              </a:solidFill>
              <a:latin typeface="Arial"/>
              <a:ea typeface="Arial"/>
              <a:cs typeface="Arial"/>
              <a:sym typeface="Arial"/>
            </a:endParaRPr>
          </a:p>
        </p:txBody>
      </p:sp>
      <p:sp>
        <p:nvSpPr>
          <p:cNvPr id="310" name="Google Shape;310;p13"/>
          <p:cNvSpPr/>
          <p:nvPr/>
        </p:nvSpPr>
        <p:spPr>
          <a:xfrm>
            <a:off x="6537960" y="3858768"/>
            <a:ext cx="4389120" cy="438912"/>
          </a:xfrm>
          <a:prstGeom prst="rect">
            <a:avLst/>
          </a:prstGeom>
          <a:noFill/>
          <a:ln>
            <a:noFill/>
          </a:ln>
        </p:spPr>
        <p:txBody>
          <a:bodyPr anchorCtr="0" anchor="ctr" bIns="250" lIns="250" spcFirstLastPara="1" rIns="250" wrap="square" tIns="250">
            <a:noAutofit/>
          </a:bodyPr>
          <a:lstStyle/>
          <a:p>
            <a:pPr indent="0" lvl="0" marL="0" marR="0" rtl="0" algn="l">
              <a:lnSpc>
                <a:spcPct val="100000"/>
              </a:lnSpc>
              <a:spcBef>
                <a:spcPts val="0"/>
              </a:spcBef>
              <a:spcAft>
                <a:spcPts val="0"/>
              </a:spcAft>
              <a:buClr>
                <a:srgbClr val="6B7280"/>
              </a:buClr>
              <a:buSzPts val="1250"/>
              <a:buFont typeface="Arial"/>
              <a:buNone/>
            </a:pPr>
            <a:r>
              <a:rPr b="0" i="0" lang="en-US" sz="1250" u="none" cap="none" strike="noStrike">
                <a:solidFill>
                  <a:srgbClr val="6B7280"/>
                </a:solidFill>
                <a:latin typeface="Arial"/>
                <a:ea typeface="Arial"/>
                <a:cs typeface="Arial"/>
                <a:sym typeface="Arial"/>
              </a:rPr>
              <a:t>Small wording differences affect the dataset labels.</a:t>
            </a:r>
            <a:endParaRPr b="0" i="0" sz="1250" u="none" cap="none" strike="noStrike">
              <a:solidFill>
                <a:schemeClr val="dk1"/>
              </a:solidFill>
              <a:latin typeface="Arial"/>
              <a:ea typeface="Arial"/>
              <a:cs typeface="Arial"/>
              <a:sym typeface="Arial"/>
            </a:endParaRPr>
          </a:p>
        </p:txBody>
      </p:sp>
      <p:sp>
        <p:nvSpPr>
          <p:cNvPr id="311" name="Google Shape;311;p13"/>
          <p:cNvSpPr/>
          <p:nvPr/>
        </p:nvSpPr>
        <p:spPr>
          <a:xfrm>
            <a:off x="6263640" y="3291840"/>
            <a:ext cx="82296" cy="1234440"/>
          </a:xfrm>
          <a:prstGeom prst="rect">
            <a:avLst/>
          </a:prstGeom>
          <a:solidFill>
            <a:srgbClr val="76B900"/>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13"/>
          <p:cNvSpPr/>
          <p:nvPr/>
        </p:nvSpPr>
        <p:spPr>
          <a:xfrm>
            <a:off x="2103120" y="5230368"/>
            <a:ext cx="7955280" cy="694944"/>
          </a:xfrm>
          <a:prstGeom prst="roundRect">
            <a:avLst>
              <a:gd fmla="val 18421" name="adj"/>
            </a:avLst>
          </a:prstGeom>
          <a:solidFill>
            <a:srgbClr val="ECFDF5"/>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13"/>
          <p:cNvSpPr/>
          <p:nvPr/>
        </p:nvSpPr>
        <p:spPr>
          <a:xfrm>
            <a:off x="2331720" y="5468112"/>
            <a:ext cx="7498080"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1320"/>
              <a:buFont typeface="Arial"/>
              <a:buNone/>
            </a:pPr>
            <a:r>
              <a:rPr b="1" i="0" lang="en-US" sz="1320" u="none" cap="none" strike="noStrike">
                <a:solidFill>
                  <a:srgbClr val="111827"/>
                </a:solidFill>
                <a:latin typeface="Arial"/>
                <a:ea typeface="Arial"/>
                <a:cs typeface="Arial"/>
                <a:sym typeface="Arial"/>
              </a:rPr>
              <a:t>For very long clips, try to generate a high-level instruction that captures the overall intent.</a:t>
            </a:r>
            <a:endParaRPr b="0" i="0" sz="1320" u="none" cap="none" strike="noStrike">
              <a:solidFill>
                <a:schemeClr val="dk1"/>
              </a:solidFill>
              <a:latin typeface="Arial"/>
              <a:ea typeface="Arial"/>
              <a:cs typeface="Arial"/>
              <a:sym typeface="Arial"/>
            </a:endParaRPr>
          </a:p>
        </p:txBody>
      </p:sp>
      <p:sp>
        <p:nvSpPr>
          <p:cNvPr id="314" name="Google Shape;314;p13"/>
          <p:cNvSpPr txBox="1"/>
          <p:nvPr>
            <p:ph idx="4294967295" type="sldNum"/>
          </p:nvPr>
        </p:nvSpPr>
        <p:spPr>
          <a:xfrm>
            <a:off x="11430000" y="6583680"/>
            <a:ext cx="8000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None/>
            </a:pPr>
            <a:fld id="{00000000-1234-1234-1234-123412341234}" type="slidenum">
              <a:rPr b="0" i="0" lang="en-US" sz="1200" u="none" cap="none" strike="noStrike">
                <a:solidFill>
                  <a:srgbClr val="6B7280"/>
                </a:solidFill>
                <a:latin typeface="Arial"/>
                <a:ea typeface="Arial"/>
                <a:cs typeface="Arial"/>
                <a:sym typeface="Arial"/>
              </a:rPr>
              <a:t>‹#›</a:t>
            </a:fld>
            <a:endParaRPr b="0" i="0" sz="1200" u="none" cap="none" strike="noStrike">
              <a:solidFill>
                <a:srgbClr val="6B728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9" name="Shape 319"/>
        <p:cNvGrpSpPr/>
        <p:nvPr/>
      </p:nvGrpSpPr>
      <p:grpSpPr>
        <a:xfrm>
          <a:off x="0" y="0"/>
          <a:ext cx="0" cy="0"/>
          <a:chOff x="0" y="0"/>
          <a:chExt cx="0" cy="0"/>
        </a:xfrm>
      </p:grpSpPr>
      <p:sp>
        <p:nvSpPr>
          <p:cNvPr id="320" name="Google Shape;320;p14"/>
          <p:cNvSpPr/>
          <p:nvPr/>
        </p:nvSpPr>
        <p:spPr>
          <a:xfrm>
            <a:off x="566928" y="320040"/>
            <a:ext cx="27432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6B900"/>
              </a:buClr>
              <a:buSzPts val="1000"/>
              <a:buFont typeface="Arial"/>
              <a:buNone/>
            </a:pPr>
            <a:r>
              <a:rPr b="1" i="0" lang="en-US" sz="1000" u="none" cap="none" strike="noStrike">
                <a:solidFill>
                  <a:srgbClr val="76B900"/>
                </a:solidFill>
                <a:latin typeface="Arial"/>
                <a:ea typeface="Arial"/>
                <a:cs typeface="Arial"/>
                <a:sym typeface="Arial"/>
              </a:rPr>
              <a:t>CURRENT PROGRESS</a:t>
            </a:r>
            <a:endParaRPr b="0" i="0" sz="1000" u="none" cap="none" strike="noStrike">
              <a:solidFill>
                <a:schemeClr val="dk1"/>
              </a:solidFill>
              <a:latin typeface="Arial"/>
              <a:ea typeface="Arial"/>
              <a:cs typeface="Arial"/>
              <a:sym typeface="Arial"/>
            </a:endParaRPr>
          </a:p>
        </p:txBody>
      </p:sp>
      <p:sp>
        <p:nvSpPr>
          <p:cNvPr id="321" name="Google Shape;321;p14"/>
          <p:cNvSpPr/>
          <p:nvPr/>
        </p:nvSpPr>
        <p:spPr>
          <a:xfrm>
            <a:off x="566928" y="594360"/>
            <a:ext cx="77724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3000"/>
              <a:buFont typeface="Arial"/>
              <a:buNone/>
            </a:pPr>
            <a:r>
              <a:rPr b="1" i="0" lang="en-US" sz="3000" u="none" cap="none" strike="noStrike">
                <a:solidFill>
                  <a:srgbClr val="111827"/>
                </a:solidFill>
                <a:latin typeface="Arial"/>
                <a:ea typeface="Arial"/>
                <a:cs typeface="Arial"/>
                <a:sym typeface="Arial"/>
              </a:rPr>
              <a:t>Dataset building is a human process</a:t>
            </a:r>
            <a:endParaRPr b="0" i="0" sz="3000" u="none" cap="none" strike="noStrike">
              <a:solidFill>
                <a:schemeClr val="dk1"/>
              </a:solidFill>
              <a:latin typeface="Arial"/>
              <a:ea typeface="Arial"/>
              <a:cs typeface="Arial"/>
              <a:sym typeface="Arial"/>
            </a:endParaRPr>
          </a:p>
        </p:txBody>
      </p:sp>
      <p:sp>
        <p:nvSpPr>
          <p:cNvPr id="322" name="Google Shape;322;p14"/>
          <p:cNvSpPr/>
          <p:nvPr/>
        </p:nvSpPr>
        <p:spPr>
          <a:xfrm>
            <a:off x="566928" y="1170432"/>
            <a:ext cx="914400" cy="54864"/>
          </a:xfrm>
          <a:prstGeom prst="rect">
            <a:avLst/>
          </a:prstGeom>
          <a:solidFill>
            <a:srgbClr val="76B900"/>
          </a:solidFill>
          <a:ln cap="flat" cmpd="sng" w="12700">
            <a:solidFill>
              <a:srgbClr val="76B9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14"/>
          <p:cNvSpPr/>
          <p:nvPr/>
        </p:nvSpPr>
        <p:spPr>
          <a:xfrm>
            <a:off x="731520" y="1325880"/>
            <a:ext cx="77724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750"/>
              <a:buFont typeface="Arial"/>
              <a:buNone/>
            </a:pPr>
            <a:r>
              <a:rPr b="0" i="0" lang="en-US" sz="1750" u="none" cap="none" strike="noStrike">
                <a:solidFill>
                  <a:srgbClr val="6B7280"/>
                </a:solidFill>
                <a:latin typeface="Arial"/>
                <a:ea typeface="Arial"/>
                <a:cs typeface="Arial"/>
                <a:sym typeface="Arial"/>
              </a:rPr>
              <a:t>A dataset like doPlan grows through many small annotation decisions.</a:t>
            </a:r>
            <a:endParaRPr b="0" i="0" sz="1750" u="none" cap="none" strike="noStrike">
              <a:solidFill>
                <a:schemeClr val="dk1"/>
              </a:solidFill>
              <a:latin typeface="Arial"/>
              <a:ea typeface="Arial"/>
              <a:cs typeface="Arial"/>
              <a:sym typeface="Arial"/>
            </a:endParaRPr>
          </a:p>
        </p:txBody>
      </p:sp>
      <p:sp>
        <p:nvSpPr>
          <p:cNvPr id="324" name="Google Shape;324;p14"/>
          <p:cNvSpPr/>
          <p:nvPr/>
        </p:nvSpPr>
        <p:spPr>
          <a:xfrm>
            <a:off x="731520" y="1938528"/>
            <a:ext cx="3291840" cy="2103120"/>
          </a:xfrm>
          <a:prstGeom prst="roundRect">
            <a:avLst>
              <a:gd fmla="val 6087"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14"/>
          <p:cNvSpPr/>
          <p:nvPr/>
        </p:nvSpPr>
        <p:spPr>
          <a:xfrm>
            <a:off x="960120" y="2468880"/>
            <a:ext cx="28346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76B900"/>
                </a:solidFill>
                <a:latin typeface="Arial"/>
                <a:ea typeface="Arial"/>
                <a:cs typeface="Arial"/>
                <a:sym typeface="Arial"/>
              </a:rPr>
              <a:t>~1.6k</a:t>
            </a:r>
            <a:endParaRPr b="0" i="0" sz="1400" u="none" cap="none" strike="noStrike">
              <a:solidFill>
                <a:srgbClr val="000000"/>
              </a:solidFill>
              <a:latin typeface="Arial"/>
              <a:ea typeface="Arial"/>
              <a:cs typeface="Arial"/>
              <a:sym typeface="Arial"/>
            </a:endParaRPr>
          </a:p>
        </p:txBody>
      </p:sp>
      <p:sp>
        <p:nvSpPr>
          <p:cNvPr id="326" name="Google Shape;326;p14"/>
          <p:cNvSpPr/>
          <p:nvPr/>
        </p:nvSpPr>
        <p:spPr>
          <a:xfrm>
            <a:off x="960120" y="2971800"/>
            <a:ext cx="28346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4748B"/>
                </a:solidFill>
                <a:latin typeface="Arial"/>
                <a:ea typeface="Arial"/>
                <a:cs typeface="Arial"/>
                <a:sym typeface="Arial"/>
              </a:rPr>
              <a:t>labels so far</a:t>
            </a:r>
            <a:endParaRPr b="0" i="0" sz="1200" u="none" cap="none" strike="noStrike">
              <a:solidFill>
                <a:srgbClr val="000000"/>
              </a:solidFill>
              <a:latin typeface="Arial"/>
              <a:ea typeface="Arial"/>
              <a:cs typeface="Arial"/>
              <a:sym typeface="Arial"/>
            </a:endParaRPr>
          </a:p>
        </p:txBody>
      </p:sp>
      <p:sp>
        <p:nvSpPr>
          <p:cNvPr id="327" name="Google Shape;327;p14"/>
          <p:cNvSpPr/>
          <p:nvPr/>
        </p:nvSpPr>
        <p:spPr>
          <a:xfrm>
            <a:off x="4434840" y="1938528"/>
            <a:ext cx="3291840" cy="2103120"/>
          </a:xfrm>
          <a:prstGeom prst="roundRect">
            <a:avLst>
              <a:gd fmla="val 6087"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14"/>
          <p:cNvSpPr/>
          <p:nvPr/>
        </p:nvSpPr>
        <p:spPr>
          <a:xfrm>
            <a:off x="4663440" y="2468880"/>
            <a:ext cx="28346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rPr b="1" lang="en-US" sz="2100">
                <a:solidFill>
                  <a:srgbClr val="2563EB"/>
                </a:solidFill>
              </a:rPr>
              <a:t>~</a:t>
            </a:r>
            <a:r>
              <a:rPr b="1" i="0" lang="en-US" sz="2100" u="none" cap="none" strike="noStrike">
                <a:solidFill>
                  <a:srgbClr val="2563EB"/>
                </a:solidFill>
                <a:latin typeface="Arial"/>
                <a:ea typeface="Arial"/>
                <a:cs typeface="Arial"/>
                <a:sym typeface="Arial"/>
              </a:rPr>
              <a:t>15</a:t>
            </a:r>
            <a:endParaRPr b="0" i="0" sz="1400" u="none" cap="none" strike="noStrike">
              <a:solidFill>
                <a:srgbClr val="000000"/>
              </a:solidFill>
              <a:latin typeface="Arial"/>
              <a:ea typeface="Arial"/>
              <a:cs typeface="Arial"/>
              <a:sym typeface="Arial"/>
            </a:endParaRPr>
          </a:p>
        </p:txBody>
      </p:sp>
      <p:sp>
        <p:nvSpPr>
          <p:cNvPr id="329" name="Google Shape;329;p14"/>
          <p:cNvSpPr/>
          <p:nvPr/>
        </p:nvSpPr>
        <p:spPr>
          <a:xfrm>
            <a:off x="4663440" y="2971800"/>
            <a:ext cx="28346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4748B"/>
                </a:solidFill>
                <a:latin typeface="Arial"/>
                <a:ea typeface="Arial"/>
                <a:cs typeface="Arial"/>
                <a:sym typeface="Arial"/>
              </a:rPr>
              <a:t>annotators involved</a:t>
            </a:r>
            <a:endParaRPr b="0" i="0" sz="1200" u="none" cap="none" strike="noStrike">
              <a:solidFill>
                <a:srgbClr val="000000"/>
              </a:solidFill>
              <a:latin typeface="Arial"/>
              <a:ea typeface="Arial"/>
              <a:cs typeface="Arial"/>
              <a:sym typeface="Arial"/>
            </a:endParaRPr>
          </a:p>
        </p:txBody>
      </p:sp>
      <p:sp>
        <p:nvSpPr>
          <p:cNvPr id="330" name="Google Shape;330;p14"/>
          <p:cNvSpPr/>
          <p:nvPr/>
        </p:nvSpPr>
        <p:spPr>
          <a:xfrm>
            <a:off x="8138160" y="1938528"/>
            <a:ext cx="3291840" cy="2103120"/>
          </a:xfrm>
          <a:prstGeom prst="roundRect">
            <a:avLst>
              <a:gd fmla="val 6087"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14"/>
          <p:cNvSpPr/>
          <p:nvPr/>
        </p:nvSpPr>
        <p:spPr>
          <a:xfrm>
            <a:off x="8366760" y="2468880"/>
            <a:ext cx="283464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9E0B"/>
              </a:buClr>
              <a:buSzPts val="2700"/>
              <a:buFont typeface="Arial"/>
              <a:buNone/>
            </a:pPr>
            <a:r>
              <a:rPr b="1" i="0" lang="en-US" sz="2700" u="none" cap="none" strike="noStrike">
                <a:solidFill>
                  <a:srgbClr val="F59E0B"/>
                </a:solidFill>
                <a:latin typeface="Arial"/>
                <a:ea typeface="Arial"/>
                <a:cs typeface="Arial"/>
                <a:sym typeface="Arial"/>
              </a:rPr>
              <a:t>~2 min</a:t>
            </a:r>
            <a:endParaRPr b="0" i="0" sz="2700" u="none" cap="none" strike="noStrike">
              <a:solidFill>
                <a:schemeClr val="dk1"/>
              </a:solidFill>
              <a:latin typeface="Arial"/>
              <a:ea typeface="Arial"/>
              <a:cs typeface="Arial"/>
              <a:sym typeface="Arial"/>
            </a:endParaRPr>
          </a:p>
        </p:txBody>
      </p:sp>
      <p:sp>
        <p:nvSpPr>
          <p:cNvPr id="332" name="Google Shape;332;p14"/>
          <p:cNvSpPr/>
          <p:nvPr/>
        </p:nvSpPr>
        <p:spPr>
          <a:xfrm>
            <a:off x="8366760" y="2971800"/>
            <a:ext cx="283464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200"/>
              <a:buFont typeface="Arial"/>
              <a:buNone/>
            </a:pPr>
            <a:r>
              <a:rPr b="0" i="0" lang="en-US" sz="1200" u="none" cap="none" strike="noStrike">
                <a:solidFill>
                  <a:srgbClr val="6B7280"/>
                </a:solidFill>
                <a:latin typeface="Arial"/>
                <a:ea typeface="Arial"/>
                <a:cs typeface="Arial"/>
                <a:sym typeface="Arial"/>
              </a:rPr>
              <a:t>per annotation</a:t>
            </a:r>
            <a:endParaRPr b="0" i="0" sz="1200" u="none" cap="none" strike="noStrike">
              <a:solidFill>
                <a:schemeClr val="dk1"/>
              </a:solidFill>
              <a:latin typeface="Arial"/>
              <a:ea typeface="Arial"/>
              <a:cs typeface="Arial"/>
              <a:sym typeface="Arial"/>
            </a:endParaRPr>
          </a:p>
        </p:txBody>
      </p:sp>
      <p:sp>
        <p:nvSpPr>
          <p:cNvPr id="333" name="Google Shape;333;p14"/>
          <p:cNvSpPr/>
          <p:nvPr/>
        </p:nvSpPr>
        <p:spPr>
          <a:xfrm>
            <a:off x="960120" y="4645152"/>
            <a:ext cx="29260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700"/>
              <a:buFont typeface="Arial"/>
              <a:buNone/>
            </a:pPr>
            <a:r>
              <a:rPr b="1" i="0" lang="en-US" sz="1700" u="none" cap="none" strike="noStrike">
                <a:solidFill>
                  <a:srgbClr val="111827"/>
                </a:solidFill>
                <a:latin typeface="Arial"/>
                <a:ea typeface="Arial"/>
                <a:cs typeface="Arial"/>
                <a:sym typeface="Arial"/>
              </a:rPr>
              <a:t>Long-term target scale</a:t>
            </a:r>
            <a:endParaRPr b="0" i="0" sz="1700" u="none" cap="none" strike="noStrike">
              <a:solidFill>
                <a:schemeClr val="dk1"/>
              </a:solidFill>
              <a:latin typeface="Arial"/>
              <a:ea typeface="Arial"/>
              <a:cs typeface="Arial"/>
              <a:sym typeface="Arial"/>
            </a:endParaRPr>
          </a:p>
        </p:txBody>
      </p:sp>
      <p:sp>
        <p:nvSpPr>
          <p:cNvPr id="334" name="Google Shape;334;p14"/>
          <p:cNvSpPr/>
          <p:nvPr/>
        </p:nvSpPr>
        <p:spPr>
          <a:xfrm>
            <a:off x="960120" y="5102352"/>
            <a:ext cx="9875520" cy="438912"/>
          </a:xfrm>
          <a:prstGeom prst="roundRect">
            <a:avLst>
              <a:gd fmla="val 41667" name="adj"/>
            </a:avLst>
          </a:prstGeom>
          <a:solidFill>
            <a:srgbClr val="E5E7EB"/>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4"/>
          <p:cNvSpPr/>
          <p:nvPr/>
        </p:nvSpPr>
        <p:spPr>
          <a:xfrm>
            <a:off x="960124" y="5102350"/>
            <a:ext cx="303600" cy="438900"/>
          </a:xfrm>
          <a:prstGeom prst="roundRect">
            <a:avLst>
              <a:gd fmla="val 41667" name="adj"/>
            </a:avLst>
          </a:prstGeom>
          <a:solidFill>
            <a:srgbClr val="76B900"/>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14"/>
          <p:cNvSpPr/>
          <p:nvPr/>
        </p:nvSpPr>
        <p:spPr>
          <a:xfrm>
            <a:off x="960120" y="5623560"/>
            <a:ext cx="5486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76B900"/>
                </a:solidFill>
                <a:latin typeface="Arial"/>
                <a:ea typeface="Arial"/>
                <a:cs typeface="Arial"/>
                <a:sym typeface="Arial"/>
              </a:rPr>
              <a:t>1.6k</a:t>
            </a:r>
            <a:endParaRPr b="0" i="0" sz="1400" u="none" cap="none" strike="noStrike">
              <a:solidFill>
                <a:srgbClr val="000000"/>
              </a:solidFill>
              <a:latin typeface="Arial"/>
              <a:ea typeface="Arial"/>
              <a:cs typeface="Arial"/>
              <a:sym typeface="Arial"/>
            </a:endParaRPr>
          </a:p>
        </p:txBody>
      </p:sp>
      <p:sp>
        <p:nvSpPr>
          <p:cNvPr id="337" name="Google Shape;337;p14"/>
          <p:cNvSpPr/>
          <p:nvPr/>
        </p:nvSpPr>
        <p:spPr>
          <a:xfrm>
            <a:off x="9281160" y="5623560"/>
            <a:ext cx="173736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64748B"/>
                </a:solidFill>
                <a:latin typeface="Arial"/>
                <a:ea typeface="Arial"/>
                <a:cs typeface="Arial"/>
                <a:sym typeface="Arial"/>
              </a:rPr>
              <a:t>10k+ annotated segments</a:t>
            </a:r>
            <a:endParaRPr b="0" i="0" sz="1400" u="none" cap="none" strike="noStrike">
              <a:solidFill>
                <a:srgbClr val="000000"/>
              </a:solidFill>
              <a:latin typeface="Arial"/>
              <a:ea typeface="Arial"/>
              <a:cs typeface="Arial"/>
              <a:sym typeface="Arial"/>
            </a:endParaRPr>
          </a:p>
        </p:txBody>
      </p:sp>
      <p:sp>
        <p:nvSpPr>
          <p:cNvPr id="338" name="Google Shape;338;p14"/>
          <p:cNvSpPr/>
          <p:nvPr/>
        </p:nvSpPr>
        <p:spPr>
          <a:xfrm>
            <a:off x="2560320" y="5916168"/>
            <a:ext cx="71323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150"/>
              <a:buFont typeface="Arial"/>
              <a:buNone/>
            </a:pPr>
            <a:r>
              <a:rPr b="0" i="0" lang="en-US" sz="1150" u="none" cap="none" strike="noStrike">
                <a:solidFill>
                  <a:srgbClr val="6B7280"/>
                </a:solidFill>
                <a:latin typeface="Arial"/>
                <a:ea typeface="Arial"/>
                <a:cs typeface="Arial"/>
                <a:sym typeface="Arial"/>
              </a:rPr>
              <a:t>There is a long-term target of 10,000–100,000 annotated instruction segments.</a:t>
            </a:r>
            <a:endParaRPr b="0" i="0" sz="1150" u="none" cap="none" strike="noStrike">
              <a:solidFill>
                <a:schemeClr val="dk1"/>
              </a:solidFill>
              <a:latin typeface="Arial"/>
              <a:ea typeface="Arial"/>
              <a:cs typeface="Arial"/>
              <a:sym typeface="Arial"/>
            </a:endParaRPr>
          </a:p>
        </p:txBody>
      </p:sp>
      <p:sp>
        <p:nvSpPr>
          <p:cNvPr id="339" name="Google Shape;339;p14"/>
          <p:cNvSpPr txBox="1"/>
          <p:nvPr>
            <p:ph idx="4294967295" type="sldNum"/>
          </p:nvPr>
        </p:nvSpPr>
        <p:spPr>
          <a:xfrm>
            <a:off x="11430000" y="6583680"/>
            <a:ext cx="8000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None/>
            </a:pPr>
            <a:fld id="{00000000-1234-1234-1234-123412341234}" type="slidenum">
              <a:rPr b="0" i="0" lang="en-US" sz="1200" u="none" cap="none" strike="noStrike">
                <a:solidFill>
                  <a:srgbClr val="6B7280"/>
                </a:solidFill>
                <a:latin typeface="Arial"/>
                <a:ea typeface="Arial"/>
                <a:cs typeface="Arial"/>
                <a:sym typeface="Arial"/>
              </a:rPr>
              <a:t>‹#›</a:t>
            </a:fld>
            <a:endParaRPr b="0" i="0" sz="1200" u="none" cap="none" strike="noStrike">
              <a:solidFill>
                <a:srgbClr val="6B728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3" name="Shape 343"/>
        <p:cNvGrpSpPr/>
        <p:nvPr/>
      </p:nvGrpSpPr>
      <p:grpSpPr>
        <a:xfrm>
          <a:off x="0" y="0"/>
          <a:ext cx="0" cy="0"/>
          <a:chOff x="0" y="0"/>
          <a:chExt cx="0" cy="0"/>
        </a:xfrm>
      </p:grpSpPr>
      <p:sp>
        <p:nvSpPr>
          <p:cNvPr id="344" name="Google Shape;344;p15"/>
          <p:cNvSpPr txBox="1"/>
          <p:nvPr/>
        </p:nvSpPr>
        <p:spPr>
          <a:xfrm>
            <a:off x="502920" y="256032"/>
            <a:ext cx="25603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76B900"/>
                </a:solidFill>
                <a:latin typeface="Arial"/>
                <a:ea typeface="Arial"/>
                <a:cs typeface="Arial"/>
                <a:sym typeface="Arial"/>
              </a:rPr>
              <a:t>HARDWARE SIDE</a:t>
            </a:r>
            <a:endParaRPr b="0" i="0" sz="1400" u="none" cap="none" strike="noStrike">
              <a:solidFill>
                <a:srgbClr val="000000"/>
              </a:solidFill>
              <a:latin typeface="Arial"/>
              <a:ea typeface="Arial"/>
              <a:cs typeface="Arial"/>
              <a:sym typeface="Arial"/>
            </a:endParaRPr>
          </a:p>
        </p:txBody>
      </p:sp>
      <p:sp>
        <p:nvSpPr>
          <p:cNvPr id="345" name="Google Shape;345;p15"/>
          <p:cNvSpPr txBox="1"/>
          <p:nvPr/>
        </p:nvSpPr>
        <p:spPr>
          <a:xfrm>
            <a:off x="502920" y="512064"/>
            <a:ext cx="7498079"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My Thor work: building a bench power harness</a:t>
            </a:r>
            <a:endParaRPr b="0" i="0" sz="1400" u="none" cap="none" strike="noStrike">
              <a:solidFill>
                <a:srgbClr val="000000"/>
              </a:solidFill>
              <a:latin typeface="Arial"/>
              <a:ea typeface="Arial"/>
              <a:cs typeface="Arial"/>
              <a:sym typeface="Arial"/>
            </a:endParaRPr>
          </a:p>
        </p:txBody>
      </p:sp>
      <p:sp>
        <p:nvSpPr>
          <p:cNvPr id="346" name="Google Shape;346;p15"/>
          <p:cNvSpPr/>
          <p:nvPr/>
        </p:nvSpPr>
        <p:spPr>
          <a:xfrm>
            <a:off x="502920" y="941832"/>
            <a:ext cx="411480" cy="36576"/>
          </a:xfrm>
          <a:prstGeom prst="rect">
            <a:avLst/>
          </a:prstGeom>
          <a:solidFill>
            <a:srgbClr val="76B900"/>
          </a:solidFill>
          <a:ln cap="flat" cmpd="sng" w="9525">
            <a:solidFill>
              <a:srgbClr val="76B90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15"/>
          <p:cNvSpPr txBox="1"/>
          <p:nvPr/>
        </p:nvSpPr>
        <p:spPr>
          <a:xfrm>
            <a:off x="594360" y="1143000"/>
            <a:ext cx="54864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414141"/>
                </a:solidFill>
                <a:latin typeface="Arial"/>
                <a:ea typeface="Arial"/>
                <a:cs typeface="Arial"/>
                <a:sym typeface="Arial"/>
              </a:rPr>
              <a:t>Besides annotation, I also helped engineer a custom bench power setup for the in-vehicle Thor system.</a:t>
            </a:r>
            <a:endParaRPr b="0" i="0" sz="1400" u="none" cap="none" strike="noStrike">
              <a:solidFill>
                <a:srgbClr val="000000"/>
              </a:solidFill>
              <a:latin typeface="Arial"/>
              <a:ea typeface="Arial"/>
              <a:cs typeface="Arial"/>
              <a:sym typeface="Arial"/>
            </a:endParaRPr>
          </a:p>
        </p:txBody>
      </p:sp>
      <p:sp>
        <p:nvSpPr>
          <p:cNvPr id="348" name="Google Shape;348;p15"/>
          <p:cNvSpPr/>
          <p:nvPr/>
        </p:nvSpPr>
        <p:spPr>
          <a:xfrm>
            <a:off x="594360" y="1600200"/>
            <a:ext cx="3794760" cy="4206240"/>
          </a:xfrm>
          <a:prstGeom prst="roundRect">
            <a:avLst>
              <a:gd fmla="val 16667" name="adj"/>
            </a:avLst>
          </a:prstGeom>
          <a:solidFill>
            <a:srgbClr val="F8FAFC"/>
          </a:solidFill>
          <a:ln cap="flat" cmpd="sng" w="1270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mage(30).png" id="349" name="Google Shape;349;p15"/>
          <p:cNvPicPr preferRelativeResize="0"/>
          <p:nvPr/>
        </p:nvPicPr>
        <p:blipFill rotWithShape="1">
          <a:blip r:embed="rId3">
            <a:alphaModFix/>
          </a:blip>
          <a:srcRect b="0" l="0" r="0" t="0"/>
          <a:stretch/>
        </p:blipFill>
        <p:spPr>
          <a:xfrm>
            <a:off x="1036348" y="1783080"/>
            <a:ext cx="2910782" cy="1901952"/>
          </a:xfrm>
          <a:prstGeom prst="rect">
            <a:avLst/>
          </a:prstGeom>
          <a:noFill/>
          <a:ln>
            <a:noFill/>
          </a:ln>
        </p:spPr>
      </p:pic>
      <p:sp>
        <p:nvSpPr>
          <p:cNvPr id="350" name="Google Shape;350;p15"/>
          <p:cNvSpPr txBox="1"/>
          <p:nvPr/>
        </p:nvSpPr>
        <p:spPr>
          <a:xfrm>
            <a:off x="868680" y="3886200"/>
            <a:ext cx="333756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11827"/>
                </a:solidFill>
                <a:latin typeface="Arial"/>
                <a:ea typeface="Arial"/>
                <a:cs typeface="Arial"/>
                <a:sym typeface="Arial"/>
              </a:rPr>
              <a:t>Power pinout found in the guide</a:t>
            </a:r>
            <a:endParaRPr b="0" i="0" sz="1400" u="none" cap="none" strike="noStrike">
              <a:solidFill>
                <a:srgbClr val="000000"/>
              </a:solidFill>
              <a:latin typeface="Arial"/>
              <a:ea typeface="Arial"/>
              <a:cs typeface="Arial"/>
              <a:sym typeface="Arial"/>
            </a:endParaRPr>
          </a:p>
        </p:txBody>
      </p:sp>
      <p:sp>
        <p:nvSpPr>
          <p:cNvPr id="351" name="Google Shape;351;p15"/>
          <p:cNvSpPr txBox="1"/>
          <p:nvPr/>
        </p:nvSpPr>
        <p:spPr>
          <a:xfrm>
            <a:off x="868680" y="4187952"/>
            <a:ext cx="3154680" cy="8046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64748B"/>
                </a:solidFill>
                <a:latin typeface="Arial"/>
                <a:ea typeface="Arial"/>
                <a:cs typeface="Arial"/>
                <a:sym typeface="Arial"/>
              </a:rPr>
              <a:t>Pins 1–6 are VBAT and pins 7–12 are Ground. That confirmed the cable needs to split power across multiple contacts.</a:t>
            </a:r>
            <a:endParaRPr b="0" i="0" sz="1400" u="none" cap="none" strike="noStrike">
              <a:solidFill>
                <a:srgbClr val="000000"/>
              </a:solidFill>
              <a:latin typeface="Arial"/>
              <a:ea typeface="Arial"/>
              <a:cs typeface="Arial"/>
              <a:sym typeface="Arial"/>
            </a:endParaRPr>
          </a:p>
        </p:txBody>
      </p:sp>
      <p:sp>
        <p:nvSpPr>
          <p:cNvPr id="352" name="Google Shape;352;p15"/>
          <p:cNvSpPr/>
          <p:nvPr/>
        </p:nvSpPr>
        <p:spPr>
          <a:xfrm>
            <a:off x="4617720" y="1600200"/>
            <a:ext cx="3017520" cy="4206240"/>
          </a:xfrm>
          <a:prstGeom prst="roundRect">
            <a:avLst>
              <a:gd fmla="val 16667" name="adj"/>
            </a:avLst>
          </a:prstGeom>
          <a:solidFill>
            <a:srgbClr val="FFFFFF"/>
          </a:solidFill>
          <a:ln cap="flat" cmpd="sng" w="1270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15"/>
          <p:cNvSpPr txBox="1"/>
          <p:nvPr/>
        </p:nvSpPr>
        <p:spPr>
          <a:xfrm>
            <a:off x="4892040" y="1828800"/>
            <a:ext cx="242316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11827"/>
                </a:solidFill>
                <a:latin typeface="Arial"/>
                <a:ea typeface="Arial"/>
                <a:cs typeface="Arial"/>
                <a:sym typeface="Arial"/>
              </a:rPr>
              <a:t>Harness concept</a:t>
            </a:r>
            <a:endParaRPr b="0" i="0" sz="1400" u="none" cap="none" strike="noStrike">
              <a:solidFill>
                <a:srgbClr val="000000"/>
              </a:solidFill>
              <a:latin typeface="Arial"/>
              <a:ea typeface="Arial"/>
              <a:cs typeface="Arial"/>
              <a:sym typeface="Arial"/>
            </a:endParaRPr>
          </a:p>
        </p:txBody>
      </p:sp>
      <p:sp>
        <p:nvSpPr>
          <p:cNvPr id="354" name="Google Shape;354;p15"/>
          <p:cNvSpPr/>
          <p:nvPr/>
        </p:nvSpPr>
        <p:spPr>
          <a:xfrm>
            <a:off x="4892040" y="2331720"/>
            <a:ext cx="2194560" cy="594360"/>
          </a:xfrm>
          <a:prstGeom prst="roundRect">
            <a:avLst>
              <a:gd fmla="val 16667" name="adj"/>
            </a:avLst>
          </a:prstGeom>
          <a:solidFill>
            <a:srgbClr val="FFFFFF"/>
          </a:solidFill>
          <a:ln cap="flat" cmpd="sng" w="1270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15"/>
          <p:cNvSpPr/>
          <p:nvPr/>
        </p:nvSpPr>
        <p:spPr>
          <a:xfrm>
            <a:off x="5029200" y="2478024"/>
            <a:ext cx="201168" cy="201168"/>
          </a:xfrm>
          <a:prstGeom prst="ellipse">
            <a:avLst/>
          </a:prstGeom>
          <a:solidFill>
            <a:srgbClr val="76B900"/>
          </a:solidFill>
          <a:ln cap="flat" cmpd="sng" w="9525">
            <a:solidFill>
              <a:srgbClr val="76B90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15"/>
          <p:cNvSpPr txBox="1"/>
          <p:nvPr/>
        </p:nvSpPr>
        <p:spPr>
          <a:xfrm>
            <a:off x="5303520" y="2441448"/>
            <a:ext cx="164591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11827"/>
                </a:solidFill>
                <a:latin typeface="Arial"/>
                <a:ea typeface="Arial"/>
                <a:cs typeface="Arial"/>
                <a:sym typeface="Arial"/>
              </a:rPr>
              <a:t>12V supply</a:t>
            </a:r>
            <a:endParaRPr b="0" i="0" sz="1400" u="none" cap="none" strike="noStrike">
              <a:solidFill>
                <a:srgbClr val="000000"/>
              </a:solidFill>
              <a:latin typeface="Arial"/>
              <a:ea typeface="Arial"/>
              <a:cs typeface="Arial"/>
              <a:sym typeface="Arial"/>
            </a:endParaRPr>
          </a:p>
        </p:txBody>
      </p:sp>
      <p:sp>
        <p:nvSpPr>
          <p:cNvPr id="357" name="Google Shape;357;p15"/>
          <p:cNvSpPr txBox="1"/>
          <p:nvPr/>
        </p:nvSpPr>
        <p:spPr>
          <a:xfrm>
            <a:off x="5303520" y="2724912"/>
            <a:ext cx="1645919" cy="1554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64748B"/>
                </a:solidFill>
                <a:latin typeface="Arial"/>
                <a:ea typeface="Arial"/>
                <a:cs typeface="Arial"/>
                <a:sym typeface="Arial"/>
              </a:rPr>
              <a:t>Mean Well lab supply</a:t>
            </a:r>
            <a:endParaRPr b="0" i="0" sz="1400" u="none" cap="none" strike="noStrike">
              <a:solidFill>
                <a:srgbClr val="000000"/>
              </a:solidFill>
              <a:latin typeface="Arial"/>
              <a:ea typeface="Arial"/>
              <a:cs typeface="Arial"/>
              <a:sym typeface="Arial"/>
            </a:endParaRPr>
          </a:p>
        </p:txBody>
      </p:sp>
      <p:cxnSp>
        <p:nvCxnSpPr>
          <p:cNvPr id="358" name="Google Shape;358;p15"/>
          <p:cNvCxnSpPr/>
          <p:nvPr/>
        </p:nvCxnSpPr>
        <p:spPr>
          <a:xfrm>
            <a:off x="5989320" y="2953512"/>
            <a:ext cx="0" cy="274320"/>
          </a:xfrm>
          <a:prstGeom prst="straightConnector1">
            <a:avLst/>
          </a:prstGeom>
          <a:noFill/>
          <a:ln cap="flat" cmpd="sng" w="15225">
            <a:solidFill>
              <a:srgbClr val="64748B"/>
            </a:solidFill>
            <a:prstDash val="solid"/>
            <a:round/>
            <a:headEnd len="sm" w="sm" type="none"/>
            <a:tailEnd len="sm" w="sm" type="none"/>
          </a:ln>
          <a:effectLst>
            <a:outerShdw blurRad="40000" rotWithShape="0" dir="5400000" dist="20000">
              <a:srgbClr val="000000">
                <a:alpha val="38039"/>
              </a:srgbClr>
            </a:outerShdw>
          </a:effectLst>
        </p:spPr>
      </p:cxnSp>
      <p:sp>
        <p:nvSpPr>
          <p:cNvPr id="359" name="Google Shape;359;p15"/>
          <p:cNvSpPr/>
          <p:nvPr/>
        </p:nvSpPr>
        <p:spPr>
          <a:xfrm>
            <a:off x="4892040" y="3246120"/>
            <a:ext cx="2194560" cy="594360"/>
          </a:xfrm>
          <a:prstGeom prst="roundRect">
            <a:avLst>
              <a:gd fmla="val 16667" name="adj"/>
            </a:avLst>
          </a:prstGeom>
          <a:solidFill>
            <a:srgbClr val="FFFFFF"/>
          </a:solidFill>
          <a:ln cap="flat" cmpd="sng" w="1270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15"/>
          <p:cNvSpPr/>
          <p:nvPr/>
        </p:nvSpPr>
        <p:spPr>
          <a:xfrm>
            <a:off x="5029200" y="3392424"/>
            <a:ext cx="201168" cy="201168"/>
          </a:xfrm>
          <a:prstGeom prst="ellipse">
            <a:avLst/>
          </a:prstGeom>
          <a:solidFill>
            <a:srgbClr val="F59E0B"/>
          </a:solidFill>
          <a:ln cap="flat" cmpd="sng" w="9525">
            <a:solidFill>
              <a:srgbClr val="F59E0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15"/>
          <p:cNvSpPr txBox="1"/>
          <p:nvPr/>
        </p:nvSpPr>
        <p:spPr>
          <a:xfrm>
            <a:off x="5303520" y="3355848"/>
            <a:ext cx="164591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11827"/>
                </a:solidFill>
                <a:latin typeface="Arial"/>
                <a:ea typeface="Arial"/>
                <a:cs typeface="Arial"/>
                <a:sym typeface="Arial"/>
              </a:rPr>
              <a:t>Fuse</a:t>
            </a:r>
            <a:endParaRPr b="0" i="0" sz="1400" u="none" cap="none" strike="noStrike">
              <a:solidFill>
                <a:srgbClr val="000000"/>
              </a:solidFill>
              <a:latin typeface="Arial"/>
              <a:ea typeface="Arial"/>
              <a:cs typeface="Arial"/>
              <a:sym typeface="Arial"/>
            </a:endParaRPr>
          </a:p>
        </p:txBody>
      </p:sp>
      <p:sp>
        <p:nvSpPr>
          <p:cNvPr id="362" name="Google Shape;362;p15"/>
          <p:cNvSpPr txBox="1"/>
          <p:nvPr/>
        </p:nvSpPr>
        <p:spPr>
          <a:xfrm>
            <a:off x="5303520" y="3639312"/>
            <a:ext cx="1645919" cy="1554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64748B"/>
                </a:solidFill>
                <a:latin typeface="Arial"/>
                <a:ea typeface="Arial"/>
                <a:cs typeface="Arial"/>
                <a:sym typeface="Arial"/>
              </a:rPr>
              <a:t>protect the power lead</a:t>
            </a:r>
            <a:endParaRPr b="0" i="0" sz="1400" u="none" cap="none" strike="noStrike">
              <a:solidFill>
                <a:srgbClr val="000000"/>
              </a:solidFill>
              <a:latin typeface="Arial"/>
              <a:ea typeface="Arial"/>
              <a:cs typeface="Arial"/>
              <a:sym typeface="Arial"/>
            </a:endParaRPr>
          </a:p>
        </p:txBody>
      </p:sp>
      <p:cxnSp>
        <p:nvCxnSpPr>
          <p:cNvPr id="363" name="Google Shape;363;p15"/>
          <p:cNvCxnSpPr/>
          <p:nvPr/>
        </p:nvCxnSpPr>
        <p:spPr>
          <a:xfrm>
            <a:off x="5989320" y="3867911"/>
            <a:ext cx="0" cy="274320"/>
          </a:xfrm>
          <a:prstGeom prst="straightConnector1">
            <a:avLst/>
          </a:prstGeom>
          <a:noFill/>
          <a:ln cap="flat" cmpd="sng" w="15225">
            <a:solidFill>
              <a:srgbClr val="64748B"/>
            </a:solidFill>
            <a:prstDash val="solid"/>
            <a:round/>
            <a:headEnd len="sm" w="sm" type="none"/>
            <a:tailEnd len="sm" w="sm" type="none"/>
          </a:ln>
          <a:effectLst>
            <a:outerShdw blurRad="40000" rotWithShape="0" dir="5400000" dist="20000">
              <a:srgbClr val="000000">
                <a:alpha val="38039"/>
              </a:srgbClr>
            </a:outerShdw>
          </a:effectLst>
        </p:spPr>
      </p:cxnSp>
      <p:sp>
        <p:nvSpPr>
          <p:cNvPr id="364" name="Google Shape;364;p15"/>
          <p:cNvSpPr/>
          <p:nvPr/>
        </p:nvSpPr>
        <p:spPr>
          <a:xfrm>
            <a:off x="4892040" y="4160520"/>
            <a:ext cx="2194560" cy="594360"/>
          </a:xfrm>
          <a:prstGeom prst="roundRect">
            <a:avLst>
              <a:gd fmla="val 16667" name="adj"/>
            </a:avLst>
          </a:prstGeom>
          <a:solidFill>
            <a:srgbClr val="FFFFFF"/>
          </a:solidFill>
          <a:ln cap="flat" cmpd="sng" w="1270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15"/>
          <p:cNvSpPr/>
          <p:nvPr/>
        </p:nvSpPr>
        <p:spPr>
          <a:xfrm>
            <a:off x="5029200" y="4306824"/>
            <a:ext cx="201168" cy="201168"/>
          </a:xfrm>
          <a:prstGeom prst="ellipse">
            <a:avLst/>
          </a:prstGeom>
          <a:solidFill>
            <a:srgbClr val="2563EB"/>
          </a:solidFill>
          <a:ln cap="flat" cmpd="sng" w="9525">
            <a:solidFill>
              <a:srgbClr val="2563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15"/>
          <p:cNvSpPr txBox="1"/>
          <p:nvPr/>
        </p:nvSpPr>
        <p:spPr>
          <a:xfrm>
            <a:off x="5303520" y="4270248"/>
            <a:ext cx="164591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11827"/>
                </a:solidFill>
                <a:latin typeface="Arial"/>
                <a:ea typeface="Arial"/>
                <a:cs typeface="Arial"/>
                <a:sym typeface="Arial"/>
              </a:rPr>
              <a:t>Split harness</a:t>
            </a:r>
            <a:endParaRPr b="0" i="0" sz="1400" u="none" cap="none" strike="noStrike">
              <a:solidFill>
                <a:srgbClr val="000000"/>
              </a:solidFill>
              <a:latin typeface="Arial"/>
              <a:ea typeface="Arial"/>
              <a:cs typeface="Arial"/>
              <a:sym typeface="Arial"/>
            </a:endParaRPr>
          </a:p>
        </p:txBody>
      </p:sp>
      <p:sp>
        <p:nvSpPr>
          <p:cNvPr id="367" name="Google Shape;367;p15"/>
          <p:cNvSpPr txBox="1"/>
          <p:nvPr/>
        </p:nvSpPr>
        <p:spPr>
          <a:xfrm>
            <a:off x="5303520" y="4553712"/>
            <a:ext cx="1645919" cy="1554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64748B"/>
                </a:solidFill>
                <a:latin typeface="Arial"/>
                <a:ea typeface="Arial"/>
                <a:cs typeface="Arial"/>
                <a:sym typeface="Arial"/>
              </a:rPr>
              <a:t>12 AWG trunk to 6×16 AWG</a:t>
            </a:r>
            <a:endParaRPr b="0" i="0" sz="1400" u="none" cap="none" strike="noStrike">
              <a:solidFill>
                <a:srgbClr val="000000"/>
              </a:solidFill>
              <a:latin typeface="Arial"/>
              <a:ea typeface="Arial"/>
              <a:cs typeface="Arial"/>
              <a:sym typeface="Arial"/>
            </a:endParaRPr>
          </a:p>
        </p:txBody>
      </p:sp>
      <p:cxnSp>
        <p:nvCxnSpPr>
          <p:cNvPr id="368" name="Google Shape;368;p15"/>
          <p:cNvCxnSpPr/>
          <p:nvPr/>
        </p:nvCxnSpPr>
        <p:spPr>
          <a:xfrm>
            <a:off x="5989320" y="4782312"/>
            <a:ext cx="0" cy="274319"/>
          </a:xfrm>
          <a:prstGeom prst="straightConnector1">
            <a:avLst/>
          </a:prstGeom>
          <a:noFill/>
          <a:ln cap="flat" cmpd="sng" w="15225">
            <a:solidFill>
              <a:srgbClr val="64748B"/>
            </a:solidFill>
            <a:prstDash val="solid"/>
            <a:round/>
            <a:headEnd len="sm" w="sm" type="none"/>
            <a:tailEnd len="sm" w="sm" type="none"/>
          </a:ln>
          <a:effectLst>
            <a:outerShdw blurRad="40000" rotWithShape="0" dir="5400000" dist="20000">
              <a:srgbClr val="000000">
                <a:alpha val="38039"/>
              </a:srgbClr>
            </a:outerShdw>
          </a:effectLst>
        </p:spPr>
      </p:cxnSp>
      <p:sp>
        <p:nvSpPr>
          <p:cNvPr id="369" name="Google Shape;369;p15"/>
          <p:cNvSpPr/>
          <p:nvPr/>
        </p:nvSpPr>
        <p:spPr>
          <a:xfrm>
            <a:off x="4892040" y="5074920"/>
            <a:ext cx="2194560" cy="594360"/>
          </a:xfrm>
          <a:prstGeom prst="roundRect">
            <a:avLst>
              <a:gd fmla="val 16667" name="adj"/>
            </a:avLst>
          </a:prstGeom>
          <a:solidFill>
            <a:srgbClr val="FFFFFF"/>
          </a:solidFill>
          <a:ln cap="flat" cmpd="sng" w="1270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15"/>
          <p:cNvSpPr/>
          <p:nvPr/>
        </p:nvSpPr>
        <p:spPr>
          <a:xfrm>
            <a:off x="5029200" y="5221224"/>
            <a:ext cx="201168" cy="201168"/>
          </a:xfrm>
          <a:prstGeom prst="ellipse">
            <a:avLst/>
          </a:prstGeom>
          <a:solidFill>
            <a:srgbClr val="7C3AED"/>
          </a:solidFill>
          <a:ln cap="flat" cmpd="sng" w="9525">
            <a:solidFill>
              <a:srgbClr val="7C3AE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5"/>
          <p:cNvSpPr txBox="1"/>
          <p:nvPr/>
        </p:nvSpPr>
        <p:spPr>
          <a:xfrm>
            <a:off x="5303520" y="5184648"/>
            <a:ext cx="164591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11827"/>
                </a:solidFill>
                <a:latin typeface="Arial"/>
                <a:ea typeface="Arial"/>
                <a:cs typeface="Arial"/>
                <a:sym typeface="Arial"/>
              </a:rPr>
              <a:t>Thor connector</a:t>
            </a:r>
            <a:endParaRPr b="0" i="0" sz="1400" u="none" cap="none" strike="noStrike">
              <a:solidFill>
                <a:srgbClr val="000000"/>
              </a:solidFill>
              <a:latin typeface="Arial"/>
              <a:ea typeface="Arial"/>
              <a:cs typeface="Arial"/>
              <a:sym typeface="Arial"/>
            </a:endParaRPr>
          </a:p>
        </p:txBody>
      </p:sp>
      <p:sp>
        <p:nvSpPr>
          <p:cNvPr id="372" name="Google Shape;372;p15"/>
          <p:cNvSpPr txBox="1"/>
          <p:nvPr/>
        </p:nvSpPr>
        <p:spPr>
          <a:xfrm>
            <a:off x="5303520" y="5468112"/>
            <a:ext cx="1645919" cy="1554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64748B"/>
                </a:solidFill>
                <a:latin typeface="Arial"/>
                <a:ea typeface="Arial"/>
                <a:cs typeface="Arial"/>
                <a:sym typeface="Arial"/>
              </a:rPr>
              <a:t>6 VBAT + 6 GND pins</a:t>
            </a:r>
            <a:endParaRPr b="0" i="0" sz="1400" u="none" cap="none" strike="noStrike">
              <a:solidFill>
                <a:srgbClr val="000000"/>
              </a:solidFill>
              <a:latin typeface="Arial"/>
              <a:ea typeface="Arial"/>
              <a:cs typeface="Arial"/>
              <a:sym typeface="Arial"/>
            </a:endParaRPr>
          </a:p>
        </p:txBody>
      </p:sp>
      <p:sp>
        <p:nvSpPr>
          <p:cNvPr id="373" name="Google Shape;373;p15"/>
          <p:cNvSpPr/>
          <p:nvPr/>
        </p:nvSpPr>
        <p:spPr>
          <a:xfrm>
            <a:off x="7932485" y="1572725"/>
            <a:ext cx="3429000" cy="4206300"/>
          </a:xfrm>
          <a:prstGeom prst="roundRect">
            <a:avLst>
              <a:gd fmla="val 16667" name="adj"/>
            </a:avLst>
          </a:prstGeom>
          <a:solidFill>
            <a:srgbClr val="F0FDF4"/>
          </a:solidFill>
          <a:ln cap="flat" cmpd="sng" w="12700">
            <a:solidFill>
              <a:srgbClr val="76B90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15"/>
          <p:cNvSpPr/>
          <p:nvPr/>
        </p:nvSpPr>
        <p:spPr>
          <a:xfrm>
            <a:off x="1234440" y="6016752"/>
            <a:ext cx="9738360" cy="347472"/>
          </a:xfrm>
          <a:prstGeom prst="roundRect">
            <a:avLst>
              <a:gd fmla="val 16667" name="adj"/>
            </a:avLst>
          </a:prstGeom>
          <a:solidFill>
            <a:srgbClr val="0F172A"/>
          </a:solidFill>
          <a:ln cap="flat" cmpd="sng" w="9525">
            <a:solidFill>
              <a:srgbClr val="0F172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15"/>
          <p:cNvSpPr txBox="1"/>
          <p:nvPr/>
        </p:nvSpPr>
        <p:spPr>
          <a:xfrm>
            <a:off x="1417320" y="6089904"/>
            <a:ext cx="9372600" cy="16459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Arial"/>
                <a:ea typeface="Arial"/>
                <a:cs typeface="Arial"/>
                <a:sym typeface="Arial"/>
              </a:rPr>
              <a:t>Result: the custom fused harness successfully powered the DRIVE AGX Thor developer system.</a:t>
            </a:r>
            <a:endParaRPr b="0" i="0" sz="1400" u="none" cap="none" strike="noStrike">
              <a:solidFill>
                <a:srgbClr val="000000"/>
              </a:solidFill>
              <a:latin typeface="Arial"/>
              <a:ea typeface="Arial"/>
              <a:cs typeface="Arial"/>
              <a:sym typeface="Arial"/>
            </a:endParaRPr>
          </a:p>
        </p:txBody>
      </p:sp>
      <p:sp>
        <p:nvSpPr>
          <p:cNvPr id="376" name="Google Shape;376;p15"/>
          <p:cNvSpPr txBox="1"/>
          <p:nvPr/>
        </p:nvSpPr>
        <p:spPr>
          <a:xfrm>
            <a:off x="8183879" y="1755648"/>
            <a:ext cx="29718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1E2832"/>
                </a:solidFill>
                <a:latin typeface="Play"/>
                <a:ea typeface="Play"/>
                <a:cs typeface="Play"/>
                <a:sym typeface="Play"/>
              </a:rPr>
              <a:t>Power-on test</a:t>
            </a:r>
            <a:endParaRPr/>
          </a:p>
        </p:txBody>
      </p:sp>
      <p:pic>
        <p:nvPicPr>
          <p:cNvPr descr="thor_power_on_autoplay.gif" id="377" name="Google Shape;377;p15"/>
          <p:cNvPicPr preferRelativeResize="0"/>
          <p:nvPr/>
        </p:nvPicPr>
        <p:blipFill rotWithShape="1">
          <a:blip r:embed="rId4">
            <a:alphaModFix/>
          </a:blip>
          <a:srcRect b="0" l="0" r="0" t="0"/>
          <a:stretch/>
        </p:blipFill>
        <p:spPr>
          <a:xfrm>
            <a:off x="8668512" y="2139696"/>
            <a:ext cx="1862675" cy="3310128"/>
          </a:xfrm>
          <a:prstGeom prst="rect">
            <a:avLst/>
          </a:prstGeom>
          <a:noFill/>
          <a:ln>
            <a:noFill/>
          </a:ln>
        </p:spPr>
      </p:pic>
      <p:sp>
        <p:nvSpPr>
          <p:cNvPr id="378" name="Google Shape;378;p15"/>
          <p:cNvSpPr/>
          <p:nvPr/>
        </p:nvSpPr>
        <p:spPr>
          <a:xfrm>
            <a:off x="8275320" y="5504688"/>
            <a:ext cx="2788920" cy="338328"/>
          </a:xfrm>
          <a:prstGeom prst="rect">
            <a:avLst/>
          </a:prstGeom>
          <a:solidFill>
            <a:srgbClr val="E0F7F1"/>
          </a:solidFill>
          <a:ln cap="flat" cmpd="sng" w="15225">
            <a:solidFill>
              <a:srgbClr val="00A67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000" u="none" cap="none" strike="noStrike">
                <a:solidFill>
                  <a:srgbClr val="005F46"/>
                </a:solidFill>
                <a:latin typeface="Arial"/>
                <a:ea typeface="Arial"/>
                <a:cs typeface="Arial"/>
                <a:sym typeface="Arial"/>
              </a:rPr>
              <a:t>Result:</a:t>
            </a:r>
            <a:r>
              <a:rPr b="1" lang="en-US" sz="1000">
                <a:solidFill>
                  <a:srgbClr val="005F46"/>
                </a:solidFill>
              </a:rPr>
              <a:t> powers up and boots.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16"/>
          <p:cNvSpPr/>
          <p:nvPr/>
        </p:nvSpPr>
        <p:spPr>
          <a:xfrm>
            <a:off x="566928" y="320040"/>
            <a:ext cx="27432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6B900"/>
              </a:buClr>
              <a:buSzPts val="1000"/>
              <a:buFont typeface="Arial"/>
              <a:buNone/>
            </a:pPr>
            <a:r>
              <a:rPr b="1" i="0" lang="en-US" sz="1000" u="none" cap="none" strike="noStrike">
                <a:solidFill>
                  <a:srgbClr val="76B900"/>
                </a:solidFill>
                <a:latin typeface="Arial"/>
                <a:ea typeface="Arial"/>
                <a:cs typeface="Arial"/>
                <a:sym typeface="Arial"/>
              </a:rPr>
              <a:t>TAKEAWAYS</a:t>
            </a:r>
            <a:endParaRPr b="0" i="0" sz="1000" u="none" cap="none" strike="noStrike">
              <a:solidFill>
                <a:schemeClr val="dk1"/>
              </a:solidFill>
              <a:latin typeface="Arial"/>
              <a:ea typeface="Arial"/>
              <a:cs typeface="Arial"/>
              <a:sym typeface="Arial"/>
            </a:endParaRPr>
          </a:p>
        </p:txBody>
      </p:sp>
      <p:sp>
        <p:nvSpPr>
          <p:cNvPr id="385" name="Google Shape;385;p16"/>
          <p:cNvSpPr/>
          <p:nvPr/>
        </p:nvSpPr>
        <p:spPr>
          <a:xfrm>
            <a:off x="566928" y="594360"/>
            <a:ext cx="77724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3000"/>
              <a:buFont typeface="Arial"/>
              <a:buNone/>
            </a:pPr>
            <a:r>
              <a:rPr b="1" i="0" lang="en-US" sz="3000" u="none" cap="none" strike="noStrike">
                <a:solidFill>
                  <a:srgbClr val="111827"/>
                </a:solidFill>
                <a:latin typeface="Arial"/>
                <a:ea typeface="Arial"/>
                <a:cs typeface="Arial"/>
                <a:sym typeface="Arial"/>
              </a:rPr>
              <a:t>What I learned</a:t>
            </a:r>
            <a:endParaRPr b="0" i="0" sz="3000" u="none" cap="none" strike="noStrike">
              <a:solidFill>
                <a:schemeClr val="dk1"/>
              </a:solidFill>
              <a:latin typeface="Arial"/>
              <a:ea typeface="Arial"/>
              <a:cs typeface="Arial"/>
              <a:sym typeface="Arial"/>
            </a:endParaRPr>
          </a:p>
        </p:txBody>
      </p:sp>
      <p:sp>
        <p:nvSpPr>
          <p:cNvPr id="386" name="Google Shape;386;p16"/>
          <p:cNvSpPr/>
          <p:nvPr/>
        </p:nvSpPr>
        <p:spPr>
          <a:xfrm>
            <a:off x="566928" y="1170432"/>
            <a:ext cx="914400" cy="54864"/>
          </a:xfrm>
          <a:prstGeom prst="rect">
            <a:avLst/>
          </a:prstGeom>
          <a:solidFill>
            <a:srgbClr val="76B900"/>
          </a:solidFill>
          <a:ln cap="flat" cmpd="sng" w="12700">
            <a:solidFill>
              <a:srgbClr val="76B9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16"/>
          <p:cNvSpPr/>
          <p:nvPr/>
        </p:nvSpPr>
        <p:spPr>
          <a:xfrm>
            <a:off x="822960" y="1783080"/>
            <a:ext cx="3246120" cy="3291840"/>
          </a:xfrm>
          <a:prstGeom prst="roundRect">
            <a:avLst>
              <a:gd fmla="val 3944"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16"/>
          <p:cNvSpPr/>
          <p:nvPr/>
        </p:nvSpPr>
        <p:spPr>
          <a:xfrm>
            <a:off x="1143000" y="2148840"/>
            <a:ext cx="777240" cy="777240"/>
          </a:xfrm>
          <a:prstGeom prst="roundRect">
            <a:avLst>
              <a:gd fmla="val 18824" name="adj"/>
            </a:avLst>
          </a:prstGeom>
          <a:solidFill>
            <a:srgbClr val="76B900"/>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16"/>
          <p:cNvSpPr/>
          <p:nvPr/>
        </p:nvSpPr>
        <p:spPr>
          <a:xfrm>
            <a:off x="1143000" y="2359152"/>
            <a:ext cx="777240"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 ”</a:t>
            </a:r>
            <a:endParaRPr b="0" i="0" sz="1700" u="none" cap="none" strike="noStrike">
              <a:solidFill>
                <a:schemeClr val="dk1"/>
              </a:solidFill>
              <a:latin typeface="Arial"/>
              <a:ea typeface="Arial"/>
              <a:cs typeface="Arial"/>
              <a:sym typeface="Arial"/>
            </a:endParaRPr>
          </a:p>
        </p:txBody>
      </p:sp>
      <p:sp>
        <p:nvSpPr>
          <p:cNvPr id="390" name="Google Shape;390;p16"/>
          <p:cNvSpPr/>
          <p:nvPr/>
        </p:nvSpPr>
        <p:spPr>
          <a:xfrm>
            <a:off x="1143000" y="3154680"/>
            <a:ext cx="260604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1800"/>
              <a:buFont typeface="Arial"/>
              <a:buNone/>
            </a:pPr>
            <a:r>
              <a:rPr b="1" i="0" lang="en-US" sz="1800" u="none" cap="none" strike="noStrike">
                <a:solidFill>
                  <a:srgbClr val="111827"/>
                </a:solidFill>
                <a:latin typeface="Arial"/>
                <a:ea typeface="Arial"/>
                <a:cs typeface="Arial"/>
                <a:sym typeface="Arial"/>
              </a:rPr>
              <a:t>Language is ambiguous</a:t>
            </a:r>
            <a:endParaRPr b="0" i="0" sz="1800" u="none" cap="none" strike="noStrike">
              <a:solidFill>
                <a:schemeClr val="dk1"/>
              </a:solidFill>
              <a:latin typeface="Arial"/>
              <a:ea typeface="Arial"/>
              <a:cs typeface="Arial"/>
              <a:sym typeface="Arial"/>
            </a:endParaRPr>
          </a:p>
        </p:txBody>
      </p:sp>
      <p:sp>
        <p:nvSpPr>
          <p:cNvPr id="391" name="Google Shape;391;p16"/>
          <p:cNvSpPr/>
          <p:nvPr/>
        </p:nvSpPr>
        <p:spPr>
          <a:xfrm>
            <a:off x="1234440" y="3858768"/>
            <a:ext cx="2423160" cy="64008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6B7280"/>
              </a:buClr>
              <a:buSzPts val="1220"/>
              <a:buFont typeface="Arial"/>
              <a:buNone/>
            </a:pPr>
            <a:r>
              <a:rPr b="0" i="0" lang="en-US" sz="1220" u="none" cap="none" strike="noStrike">
                <a:solidFill>
                  <a:srgbClr val="6B7280"/>
                </a:solidFill>
                <a:latin typeface="Arial"/>
                <a:ea typeface="Arial"/>
                <a:cs typeface="Arial"/>
                <a:sym typeface="Arial"/>
              </a:rPr>
              <a:t>The same driving behavior can have multiple reasonable instructions.</a:t>
            </a:r>
            <a:endParaRPr b="0" i="0" sz="1220" u="none" cap="none" strike="noStrike">
              <a:solidFill>
                <a:schemeClr val="dk1"/>
              </a:solidFill>
              <a:latin typeface="Arial"/>
              <a:ea typeface="Arial"/>
              <a:cs typeface="Arial"/>
              <a:sym typeface="Arial"/>
            </a:endParaRPr>
          </a:p>
        </p:txBody>
      </p:sp>
      <p:sp>
        <p:nvSpPr>
          <p:cNvPr id="392" name="Google Shape;392;p16"/>
          <p:cNvSpPr/>
          <p:nvPr/>
        </p:nvSpPr>
        <p:spPr>
          <a:xfrm>
            <a:off x="4572000" y="1783080"/>
            <a:ext cx="3246120" cy="3291840"/>
          </a:xfrm>
          <a:prstGeom prst="roundRect">
            <a:avLst>
              <a:gd fmla="val 3944"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16"/>
          <p:cNvSpPr/>
          <p:nvPr/>
        </p:nvSpPr>
        <p:spPr>
          <a:xfrm>
            <a:off x="4892040" y="2148840"/>
            <a:ext cx="777240" cy="777240"/>
          </a:xfrm>
          <a:prstGeom prst="roundRect">
            <a:avLst>
              <a:gd fmla="val 18824" name="adj"/>
            </a:avLst>
          </a:prstGeom>
          <a:solidFill>
            <a:srgbClr val="2563EB"/>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16"/>
          <p:cNvSpPr/>
          <p:nvPr/>
        </p:nvSpPr>
        <p:spPr>
          <a:xfrm>
            <a:off x="4892040" y="2359152"/>
            <a:ext cx="777240"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UI</a:t>
            </a:r>
            <a:endParaRPr b="0" i="0" sz="1300" u="none" cap="none" strike="noStrike">
              <a:solidFill>
                <a:schemeClr val="dk1"/>
              </a:solidFill>
              <a:latin typeface="Arial"/>
              <a:ea typeface="Arial"/>
              <a:cs typeface="Arial"/>
              <a:sym typeface="Arial"/>
            </a:endParaRPr>
          </a:p>
        </p:txBody>
      </p:sp>
      <p:sp>
        <p:nvSpPr>
          <p:cNvPr id="395" name="Google Shape;395;p16"/>
          <p:cNvSpPr/>
          <p:nvPr/>
        </p:nvSpPr>
        <p:spPr>
          <a:xfrm>
            <a:off x="4892040" y="3154680"/>
            <a:ext cx="260604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1800"/>
              <a:buFont typeface="Arial"/>
              <a:buNone/>
            </a:pPr>
            <a:r>
              <a:rPr b="1" i="0" lang="en-US" sz="1800" u="none" cap="none" strike="noStrike">
                <a:solidFill>
                  <a:srgbClr val="111827"/>
                </a:solidFill>
                <a:latin typeface="Arial"/>
                <a:ea typeface="Arial"/>
                <a:cs typeface="Arial"/>
                <a:sym typeface="Arial"/>
              </a:rPr>
              <a:t>Interfaces shape data</a:t>
            </a:r>
            <a:endParaRPr b="0" i="0" sz="1800" u="none" cap="none" strike="noStrike">
              <a:solidFill>
                <a:schemeClr val="dk1"/>
              </a:solidFill>
              <a:latin typeface="Arial"/>
              <a:ea typeface="Arial"/>
              <a:cs typeface="Arial"/>
              <a:sym typeface="Arial"/>
            </a:endParaRPr>
          </a:p>
        </p:txBody>
      </p:sp>
      <p:sp>
        <p:nvSpPr>
          <p:cNvPr id="396" name="Google Shape;396;p16"/>
          <p:cNvSpPr/>
          <p:nvPr/>
        </p:nvSpPr>
        <p:spPr>
          <a:xfrm>
            <a:off x="4983480" y="3858768"/>
            <a:ext cx="2423160" cy="64008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6B7280"/>
              </a:buClr>
              <a:buSzPts val="1220"/>
              <a:buFont typeface="Arial"/>
              <a:buNone/>
            </a:pPr>
            <a:r>
              <a:rPr b="0" i="0" lang="en-US" sz="1220" u="none" cap="none" strike="noStrike">
                <a:solidFill>
                  <a:srgbClr val="6B7280"/>
                </a:solidFill>
                <a:latin typeface="Arial"/>
                <a:ea typeface="Arial"/>
                <a:cs typeface="Arial"/>
                <a:sym typeface="Arial"/>
              </a:rPr>
              <a:t>Map view, camera views, and even compass cues affect annotation quality.</a:t>
            </a:r>
            <a:endParaRPr b="0" i="0" sz="1220" u="none" cap="none" strike="noStrike">
              <a:solidFill>
                <a:schemeClr val="dk1"/>
              </a:solidFill>
              <a:latin typeface="Arial"/>
              <a:ea typeface="Arial"/>
              <a:cs typeface="Arial"/>
              <a:sym typeface="Arial"/>
            </a:endParaRPr>
          </a:p>
        </p:txBody>
      </p:sp>
      <p:sp>
        <p:nvSpPr>
          <p:cNvPr id="397" name="Google Shape;397;p16"/>
          <p:cNvSpPr/>
          <p:nvPr/>
        </p:nvSpPr>
        <p:spPr>
          <a:xfrm>
            <a:off x="8321040" y="1783080"/>
            <a:ext cx="3246120" cy="3291840"/>
          </a:xfrm>
          <a:prstGeom prst="roundRect">
            <a:avLst>
              <a:gd fmla="val 3944"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16"/>
          <p:cNvSpPr/>
          <p:nvPr/>
        </p:nvSpPr>
        <p:spPr>
          <a:xfrm>
            <a:off x="8641080" y="2148840"/>
            <a:ext cx="777240" cy="777240"/>
          </a:xfrm>
          <a:prstGeom prst="roundRect">
            <a:avLst>
              <a:gd fmla="val 18824" name="adj"/>
            </a:avLst>
          </a:prstGeom>
          <a:solidFill>
            <a:srgbClr val="F59E0B"/>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16"/>
          <p:cNvSpPr/>
          <p:nvPr/>
        </p:nvSpPr>
        <p:spPr>
          <a:xfrm>
            <a:off x="8641080" y="2359152"/>
            <a:ext cx="77724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Arial"/>
                <a:ea typeface="Arial"/>
                <a:cs typeface="Arial"/>
                <a:sym typeface="Arial"/>
              </a:rPr>
              <a:t>HW</a:t>
            </a:r>
            <a:endParaRPr b="0" i="0" sz="1400" u="none" cap="none" strike="noStrike">
              <a:solidFill>
                <a:srgbClr val="000000"/>
              </a:solidFill>
              <a:latin typeface="Arial"/>
              <a:ea typeface="Arial"/>
              <a:cs typeface="Arial"/>
              <a:sym typeface="Arial"/>
            </a:endParaRPr>
          </a:p>
        </p:txBody>
      </p:sp>
      <p:sp>
        <p:nvSpPr>
          <p:cNvPr id="400" name="Google Shape;400;p16"/>
          <p:cNvSpPr/>
          <p:nvPr/>
        </p:nvSpPr>
        <p:spPr>
          <a:xfrm>
            <a:off x="8641080" y="3154680"/>
            <a:ext cx="26060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11827"/>
                </a:solidFill>
                <a:latin typeface="Arial"/>
                <a:ea typeface="Arial"/>
                <a:cs typeface="Arial"/>
                <a:sym typeface="Arial"/>
              </a:rPr>
              <a:t>Software meets hardware</a:t>
            </a:r>
            <a:endParaRPr b="0" i="0" sz="1400" u="none" cap="none" strike="noStrike">
              <a:solidFill>
                <a:srgbClr val="000000"/>
              </a:solidFill>
              <a:latin typeface="Arial"/>
              <a:ea typeface="Arial"/>
              <a:cs typeface="Arial"/>
              <a:sym typeface="Arial"/>
            </a:endParaRPr>
          </a:p>
        </p:txBody>
      </p:sp>
      <p:sp>
        <p:nvSpPr>
          <p:cNvPr id="401" name="Google Shape;401;p16"/>
          <p:cNvSpPr/>
          <p:nvPr/>
        </p:nvSpPr>
        <p:spPr>
          <a:xfrm>
            <a:off x="8732520" y="3858768"/>
            <a:ext cx="2423160" cy="640080"/>
          </a:xfrm>
          <a:prstGeom prst="rect">
            <a:avLst/>
          </a:prstGeom>
          <a:noFill/>
          <a:ln>
            <a:noFill/>
          </a:ln>
        </p:spPr>
        <p:txBody>
          <a:bodyPr anchorCtr="0" anchor="ctr" bIns="250" lIns="250" spcFirstLastPara="1" rIns="250" wrap="square" tIns="25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4748B"/>
                </a:solidFill>
                <a:latin typeface="Arial"/>
                <a:ea typeface="Arial"/>
                <a:cs typeface="Arial"/>
                <a:sym typeface="Arial"/>
              </a:rPr>
              <a:t>doPlan showed me the data side, while Thor showed me the embedded systems side of autonomous driving.</a:t>
            </a:r>
            <a:endParaRPr b="0" i="0" sz="1200" u="none" cap="none" strike="noStrike">
              <a:solidFill>
                <a:srgbClr val="000000"/>
              </a:solidFill>
              <a:latin typeface="Arial"/>
              <a:ea typeface="Arial"/>
              <a:cs typeface="Arial"/>
              <a:sym typeface="Arial"/>
            </a:endParaRPr>
          </a:p>
        </p:txBody>
      </p:sp>
      <p:sp>
        <p:nvSpPr>
          <p:cNvPr id="402" name="Google Shape;402;p16"/>
          <p:cNvSpPr/>
          <p:nvPr/>
        </p:nvSpPr>
        <p:spPr>
          <a:xfrm>
            <a:off x="1280160" y="5559552"/>
            <a:ext cx="9646920" cy="594360"/>
          </a:xfrm>
          <a:prstGeom prst="roundRect">
            <a:avLst>
              <a:gd fmla="val 21538" name="adj"/>
            </a:avLst>
          </a:prstGeom>
          <a:solidFill>
            <a:srgbClr val="111827"/>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16"/>
          <p:cNvSpPr/>
          <p:nvPr/>
        </p:nvSpPr>
        <p:spPr>
          <a:xfrm>
            <a:off x="1508760" y="5742432"/>
            <a:ext cx="92354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FFFFFF"/>
                </a:solidFill>
                <a:latin typeface="Arial"/>
                <a:ea typeface="Arial"/>
                <a:cs typeface="Arial"/>
                <a:sym typeface="Arial"/>
              </a:rPr>
              <a:t>This summer helped me see how natural language datasets and vehicle hardware come together in autonomous driving research.</a:t>
            </a:r>
            <a:endParaRPr b="0" i="0" sz="1400" u="none" cap="none" strike="noStrike">
              <a:solidFill>
                <a:srgbClr val="000000"/>
              </a:solidFill>
              <a:latin typeface="Arial"/>
              <a:ea typeface="Arial"/>
              <a:cs typeface="Arial"/>
              <a:sym typeface="Arial"/>
            </a:endParaRPr>
          </a:p>
        </p:txBody>
      </p:sp>
      <p:sp>
        <p:nvSpPr>
          <p:cNvPr id="404" name="Google Shape;404;p16"/>
          <p:cNvSpPr txBox="1"/>
          <p:nvPr>
            <p:ph idx="4294967295" type="sldNum"/>
          </p:nvPr>
        </p:nvSpPr>
        <p:spPr>
          <a:xfrm>
            <a:off x="11430000" y="6583680"/>
            <a:ext cx="8000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None/>
            </a:pPr>
            <a:fld id="{00000000-1234-1234-1234-123412341234}" type="slidenum">
              <a:rPr b="0" i="0" lang="en-US" sz="1200" u="none" cap="none" strike="noStrike">
                <a:solidFill>
                  <a:srgbClr val="6B7280"/>
                </a:solidFill>
                <a:latin typeface="Arial"/>
                <a:ea typeface="Arial"/>
                <a:cs typeface="Arial"/>
                <a:sym typeface="Arial"/>
              </a:rPr>
              <a:t>‹#›</a:t>
            </a:fld>
            <a:endParaRPr b="0" i="0" sz="1200" u="none" cap="none" strike="noStrike">
              <a:solidFill>
                <a:srgbClr val="6B728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827"/>
        </a:solidFill>
      </p:bgPr>
    </p:bg>
    <p:spTree>
      <p:nvGrpSpPr>
        <p:cNvPr id="409" name="Shape 409"/>
        <p:cNvGrpSpPr/>
        <p:nvPr/>
      </p:nvGrpSpPr>
      <p:grpSpPr>
        <a:xfrm>
          <a:off x="0" y="0"/>
          <a:ext cx="0" cy="0"/>
          <a:chOff x="0" y="0"/>
          <a:chExt cx="0" cy="0"/>
        </a:xfrm>
      </p:grpSpPr>
      <p:pic>
        <p:nvPicPr>
          <p:cNvPr descr="/mnt/data/doplan_pres_assets/map_only.png" id="410" name="Google Shape;410;p17"/>
          <p:cNvPicPr preferRelativeResize="0"/>
          <p:nvPr/>
        </p:nvPicPr>
        <p:blipFill rotWithShape="1">
          <a:blip r:embed="rId3">
            <a:alphaModFix/>
          </a:blip>
          <a:srcRect b="0" l="9346" r="9346" t="0"/>
          <a:stretch/>
        </p:blipFill>
        <p:spPr>
          <a:xfrm>
            <a:off x="7315200" y="365760"/>
            <a:ext cx="4160520" cy="5943600"/>
          </a:xfrm>
          <a:prstGeom prst="rect">
            <a:avLst/>
          </a:prstGeom>
          <a:noFill/>
          <a:ln>
            <a:noFill/>
          </a:ln>
        </p:spPr>
      </p:pic>
      <p:sp>
        <p:nvSpPr>
          <p:cNvPr id="411" name="Google Shape;411;p17"/>
          <p:cNvSpPr/>
          <p:nvPr/>
        </p:nvSpPr>
        <p:spPr>
          <a:xfrm>
            <a:off x="7040880" y="0"/>
            <a:ext cx="5148072" cy="6858000"/>
          </a:xfrm>
          <a:prstGeom prst="rect">
            <a:avLst/>
          </a:prstGeom>
          <a:solidFill>
            <a:srgbClr val="111827">
              <a:alpha val="80000"/>
            </a:srgbClr>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17"/>
          <p:cNvSpPr/>
          <p:nvPr/>
        </p:nvSpPr>
        <p:spPr>
          <a:xfrm>
            <a:off x="822960" y="1371600"/>
            <a:ext cx="47548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Thank you</a:t>
            </a:r>
            <a:endParaRPr b="0" i="0" sz="4400" u="none" cap="none" strike="noStrike">
              <a:solidFill>
                <a:schemeClr val="dk1"/>
              </a:solidFill>
              <a:latin typeface="Arial"/>
              <a:ea typeface="Arial"/>
              <a:cs typeface="Arial"/>
              <a:sym typeface="Arial"/>
            </a:endParaRPr>
          </a:p>
        </p:txBody>
      </p:sp>
      <p:cxnSp>
        <p:nvCxnSpPr>
          <p:cNvPr id="413" name="Google Shape;413;p17"/>
          <p:cNvCxnSpPr/>
          <p:nvPr/>
        </p:nvCxnSpPr>
        <p:spPr>
          <a:xfrm>
            <a:off x="822960" y="2148840"/>
            <a:ext cx="1097280" cy="0"/>
          </a:xfrm>
          <a:prstGeom prst="straightConnector1">
            <a:avLst/>
          </a:prstGeom>
          <a:noFill/>
          <a:ln cap="flat" cmpd="sng" w="50800">
            <a:solidFill>
              <a:srgbClr val="76B900"/>
            </a:solidFill>
            <a:prstDash val="solid"/>
            <a:round/>
            <a:headEnd len="sm" w="sm" type="none"/>
            <a:tailEnd len="sm" w="sm" type="none"/>
          </a:ln>
        </p:spPr>
      </p:cxnSp>
      <p:sp>
        <p:nvSpPr>
          <p:cNvPr id="414" name="Google Shape;414;p17"/>
          <p:cNvSpPr/>
          <p:nvPr/>
        </p:nvSpPr>
        <p:spPr>
          <a:xfrm>
            <a:off x="841248" y="2816352"/>
            <a:ext cx="292608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6B900"/>
              </a:buClr>
              <a:buSzPts val="2800"/>
              <a:buFont typeface="Arial"/>
              <a:buNone/>
            </a:pPr>
            <a:r>
              <a:rPr b="1" i="0" lang="en-US" sz="2800" u="none" cap="none" strike="noStrike">
                <a:solidFill>
                  <a:srgbClr val="76B900"/>
                </a:solidFill>
                <a:latin typeface="Arial"/>
                <a:ea typeface="Arial"/>
                <a:cs typeface="Arial"/>
                <a:sym typeface="Arial"/>
              </a:rPr>
              <a:t>Questions?</a:t>
            </a:r>
            <a:endParaRPr b="0" i="0" sz="2800" u="none" cap="none" strike="noStrike">
              <a:solidFill>
                <a:schemeClr val="dk1"/>
              </a:solidFill>
              <a:latin typeface="Arial"/>
              <a:ea typeface="Arial"/>
              <a:cs typeface="Arial"/>
              <a:sym typeface="Arial"/>
            </a:endParaRPr>
          </a:p>
        </p:txBody>
      </p:sp>
      <p:sp>
        <p:nvSpPr>
          <p:cNvPr id="415" name="Google Shape;415;p17"/>
          <p:cNvSpPr/>
          <p:nvPr/>
        </p:nvSpPr>
        <p:spPr>
          <a:xfrm>
            <a:off x="841248" y="3657600"/>
            <a:ext cx="5212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600"/>
              <a:buFont typeface="Arial"/>
              <a:buNone/>
            </a:pPr>
            <a:r>
              <a:rPr b="0" i="0" lang="en-US" sz="1600" u="none" cap="none" strike="noStrike">
                <a:solidFill>
                  <a:srgbClr val="D1D5DB"/>
                </a:solidFill>
                <a:latin typeface="Arial"/>
                <a:ea typeface="Arial"/>
                <a:cs typeface="Arial"/>
                <a:sym typeface="Arial"/>
              </a:rPr>
              <a:t>Annotating Long-Horizon Driving Instructions for Autonomous Vehicles</a:t>
            </a:r>
            <a:endParaRPr b="0" i="0" sz="1600" u="none" cap="none" strike="noStrike">
              <a:solidFill>
                <a:schemeClr val="dk1"/>
              </a:solidFill>
              <a:latin typeface="Arial"/>
              <a:ea typeface="Arial"/>
              <a:cs typeface="Arial"/>
              <a:sym typeface="Arial"/>
            </a:endParaRPr>
          </a:p>
        </p:txBody>
      </p:sp>
      <p:sp>
        <p:nvSpPr>
          <p:cNvPr id="416" name="Google Shape;416;p17"/>
          <p:cNvSpPr/>
          <p:nvPr/>
        </p:nvSpPr>
        <p:spPr>
          <a:xfrm>
            <a:off x="841248" y="4160520"/>
            <a:ext cx="41148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1300"/>
              <a:buFont typeface="Arial"/>
              <a:buNone/>
            </a:pPr>
            <a:r>
              <a:rPr b="0" i="0" lang="en-US" sz="1300" u="none" cap="none" strike="noStrike">
                <a:solidFill>
                  <a:srgbClr val="9CA3AF"/>
                </a:solidFill>
                <a:latin typeface="Arial"/>
                <a:ea typeface="Arial"/>
                <a:cs typeface="Arial"/>
                <a:sym typeface="Arial"/>
              </a:rPr>
              <a:t>Isaiah Ramirez  •  Mi³ Lab  •  UC Merced</a:t>
            </a:r>
            <a:endParaRPr b="0" i="0" sz="1300" u="none" cap="none" strike="noStrike">
              <a:solidFill>
                <a:schemeClr val="dk1"/>
              </a:solidFill>
              <a:latin typeface="Arial"/>
              <a:ea typeface="Arial"/>
              <a:cs typeface="Arial"/>
              <a:sym typeface="Arial"/>
            </a:endParaRPr>
          </a:p>
        </p:txBody>
      </p:sp>
      <p:sp>
        <p:nvSpPr>
          <p:cNvPr id="417" name="Google Shape;417;p17"/>
          <p:cNvSpPr txBox="1"/>
          <p:nvPr>
            <p:ph idx="4294967295" type="sldNum"/>
          </p:nvPr>
        </p:nvSpPr>
        <p:spPr>
          <a:xfrm>
            <a:off x="11430000" y="6583680"/>
            <a:ext cx="8000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None/>
            </a:pPr>
            <a:fld id="{00000000-1234-1234-1234-123412341234}" type="slidenum">
              <a:rPr b="0" i="0" lang="en-US" sz="1200" u="none" cap="none" strike="noStrike">
                <a:solidFill>
                  <a:srgbClr val="6B7280"/>
                </a:solidFill>
                <a:latin typeface="Arial"/>
                <a:ea typeface="Arial"/>
                <a:cs typeface="Arial"/>
                <a:sym typeface="Arial"/>
              </a:rPr>
              <a:t>‹#›</a:t>
            </a:fld>
            <a:endParaRPr b="0" i="0" sz="1200" u="none" cap="none" strike="noStrike">
              <a:solidFill>
                <a:srgbClr val="6B728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